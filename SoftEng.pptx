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Montserrat Bold" charset="1" panose="00000800000000000000"/>
      <p:regular r:id="rId44"/>
    </p:embeddedFont>
    <p:embeddedFont>
      <p:font typeface="Montserrat" charset="1" panose="00000500000000000000"/>
      <p:regular r:id="rId45"/>
    </p:embeddedFont>
    <p:embeddedFont>
      <p:font typeface="Montserrat Medium" charset="1" panose="00000600000000000000"/>
      <p:regular r:id="rId46"/>
    </p:embeddedFont>
    <p:embeddedFont>
      <p:font typeface="Arimo" charset="1" panose="020B0604020202020204"/>
      <p:regular r:id="rId48"/>
    </p:embeddedFont>
    <p:embeddedFont>
      <p:font typeface="Arimo Bold" charset="1" panose="020B0704020202020204"/>
      <p:regular r:id="rId55"/>
    </p:embeddedFont>
    <p:embeddedFont>
      <p:font typeface="Horizon" charset="1" panose="02000500000000000000"/>
      <p:regular r:id="rId62"/>
    </p:embeddedFont>
    <p:embeddedFont>
      <p:font typeface="League Spartan" charset="1" panose="00000800000000000000"/>
      <p:regular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notesMasters/notesMaster1.xml" Type="http://schemas.openxmlformats.org/officeDocument/2006/relationships/notesMaster"/><Relationship Id="rId42" Target="theme/theme2.xml" Type="http://schemas.openxmlformats.org/officeDocument/2006/relationships/theme"/><Relationship Id="rId43" Target="notesSlides/notesSlide1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Slides/notesSlide2.xml" Type="http://schemas.openxmlformats.org/officeDocument/2006/relationships/notesSlide"/><Relationship Id="rId48" Target="fonts/font48.fntdata" Type="http://schemas.openxmlformats.org/officeDocument/2006/relationships/font"/><Relationship Id="rId49" Target="notesSlides/notesSlide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4.xml" Type="http://schemas.openxmlformats.org/officeDocument/2006/relationships/notesSlide"/><Relationship Id="rId51" Target="notesSlides/notesSlide5.xml" Type="http://schemas.openxmlformats.org/officeDocument/2006/relationships/notesSlide"/><Relationship Id="rId52" Target="notesSlides/notesSlide6.xml" Type="http://schemas.openxmlformats.org/officeDocument/2006/relationships/notesSlide"/><Relationship Id="rId53" Target="notesSlides/notesSlide7.xml" Type="http://schemas.openxmlformats.org/officeDocument/2006/relationships/notesSlide"/><Relationship Id="rId54" Target="notesSlides/notesSlide8.xml" Type="http://schemas.openxmlformats.org/officeDocument/2006/relationships/notesSlide"/><Relationship Id="rId55" Target="fonts/font55.fntdata" Type="http://schemas.openxmlformats.org/officeDocument/2006/relationships/font"/><Relationship Id="rId56" Target="notesSlides/notesSlide9.xml" Type="http://schemas.openxmlformats.org/officeDocument/2006/relationships/notesSlide"/><Relationship Id="rId57" Target="notesSlides/notesSlide10.xml" Type="http://schemas.openxmlformats.org/officeDocument/2006/relationships/notesSlide"/><Relationship Id="rId58" Target="notesSlides/notesSlide11.xml" Type="http://schemas.openxmlformats.org/officeDocument/2006/relationships/notesSlide"/><Relationship Id="rId59" Target="notesSlides/notesSlide12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3.xml" Type="http://schemas.openxmlformats.org/officeDocument/2006/relationships/notesSlide"/><Relationship Id="rId61" Target="notesSlides/notesSlide14.xml" Type="http://schemas.openxmlformats.org/officeDocument/2006/relationships/notesSlide"/><Relationship Id="rId62" Target="fonts/font62.fntdata" Type="http://schemas.openxmlformats.org/officeDocument/2006/relationships/font"/><Relationship Id="rId63" Target="notesSlides/notesSlide15.xml" Type="http://schemas.openxmlformats.org/officeDocument/2006/relationships/notesSlide"/><Relationship Id="rId64" Target="notesSlides/notesSlide16.xml" Type="http://schemas.openxmlformats.org/officeDocument/2006/relationships/notesSlide"/><Relationship Id="rId65" Target="notesSlides/notesSlide17.xml" Type="http://schemas.openxmlformats.org/officeDocument/2006/relationships/notesSlide"/><Relationship Id="rId66" Target="notesSlides/notesSlide18.xml" Type="http://schemas.openxmlformats.org/officeDocument/2006/relationships/notesSlide"/><Relationship Id="rId67" Target="notesSlides/notesSlide19.xml" Type="http://schemas.openxmlformats.org/officeDocument/2006/relationships/notesSlide"/><Relationship Id="rId68" Target="notesSlides/notesSlide20.xml" Type="http://schemas.openxmlformats.org/officeDocument/2006/relationships/notesSlide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70" Target="notesSlides/notesSlide21.xml" Type="http://schemas.openxmlformats.org/officeDocument/2006/relationships/notesSlide"/><Relationship Id="rId71" Target="notesSlides/notesSlide22.xml" Type="http://schemas.openxmlformats.org/officeDocument/2006/relationships/notesSlide"/><Relationship Id="rId72" Target="notesSlides/notesSlide23.xml" Type="http://schemas.openxmlformats.org/officeDocument/2006/relationships/notesSlide"/><Relationship Id="rId73" Target="notesSlides/notesSlide24.xml" Type="http://schemas.openxmlformats.org/officeDocument/2006/relationships/notesSlide"/><Relationship Id="rId74" Target="notesSlides/notesSlide25.xml" Type="http://schemas.openxmlformats.org/officeDocument/2006/relationships/notesSlide"/><Relationship Id="rId75" Target="notesSlides/notesSlide26.xml" Type="http://schemas.openxmlformats.org/officeDocument/2006/relationships/notesSlide"/><Relationship Id="rId76" Target="notesSlides/notesSlide27.xml" Type="http://schemas.openxmlformats.org/officeDocument/2006/relationships/notesSlide"/><Relationship Id="rId77" Target="notesSlides/notesSlide28.xml" Type="http://schemas.openxmlformats.org/officeDocument/2006/relationships/notesSlide"/><Relationship Id="rId78" Target="notesSlides/notesSlide29.xml" Type="http://schemas.openxmlformats.org/officeDocument/2006/relationships/notesSlide"/><Relationship Id="rId79" Target="notesSlides/notesSlide30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31.xml" Type="http://schemas.openxmlformats.org/officeDocument/2006/relationships/notesSlide"/><Relationship Id="rId81" Target="notesSlides/notesSlide32.xml" Type="http://schemas.openxmlformats.org/officeDocument/2006/relationships/notesSlide"/><Relationship Id="rId82" Target="notesSlides/notesSlide33.xml" Type="http://schemas.openxmlformats.org/officeDocument/2006/relationships/notesSlide"/><Relationship Id="rId83" Target="notesSlides/notesSlide34.xml" Type="http://schemas.openxmlformats.org/officeDocument/2006/relationships/notesSlide"/><Relationship Id="rId84" Target="notesSlides/notesSlide35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3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3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3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3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50.png" Type="http://schemas.openxmlformats.org/officeDocument/2006/relationships/image"/><Relationship Id="rId12" Target="../media/image51.svg" Type="http://schemas.openxmlformats.org/officeDocument/2006/relationships/image"/><Relationship Id="rId2" Target="../notesSlides/notesSlide28.xml" Type="http://schemas.openxmlformats.org/officeDocument/2006/relationships/notesSlid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9472300" y="8203150"/>
            <a:ext cx="8815700" cy="2083850"/>
            <a:chOff x="0" y="0"/>
            <a:chExt cx="11754267" cy="2778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11754104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104">
                  <a:moveTo>
                    <a:pt x="0" y="0"/>
                  </a:moveTo>
                  <a:lnTo>
                    <a:pt x="0" y="1798193"/>
                  </a:lnTo>
                  <a:cubicBezTo>
                    <a:pt x="0" y="1798193"/>
                    <a:pt x="500253" y="2778379"/>
                    <a:pt x="1935353" y="2778379"/>
                  </a:cubicBezTo>
                  <a:cubicBezTo>
                    <a:pt x="2276094" y="2778379"/>
                    <a:pt x="2669794" y="2723134"/>
                    <a:pt x="3121914" y="2586228"/>
                  </a:cubicBezTo>
                  <a:cubicBezTo>
                    <a:pt x="5189855" y="1960499"/>
                    <a:pt x="5818505" y="987679"/>
                    <a:pt x="7461631" y="987679"/>
                  </a:cubicBezTo>
                  <a:cubicBezTo>
                    <a:pt x="7690485" y="987679"/>
                    <a:pt x="7938770" y="1006602"/>
                    <a:pt x="8213471" y="1047750"/>
                  </a:cubicBezTo>
                  <a:cubicBezTo>
                    <a:pt x="8457692" y="1084453"/>
                    <a:pt x="8690610" y="1100836"/>
                    <a:pt x="8911844" y="1100836"/>
                  </a:cubicBezTo>
                  <a:cubicBezTo>
                    <a:pt x="10727055" y="1100836"/>
                    <a:pt x="11754104" y="0"/>
                    <a:pt x="1175410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30000" y="1180950"/>
            <a:ext cx="12350150" cy="667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92"/>
              </a:lnSpc>
            </a:pPr>
            <a:r>
              <a:rPr lang="en-US" sz="9410" b="true">
                <a:solidFill>
                  <a:srgbClr val="399B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Account Banking System</a:t>
            </a:r>
            <a:r>
              <a:rPr lang="en-US" sz="9410">
                <a:solidFill>
                  <a:srgbClr val="005D7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10093"/>
              </a:lnSpc>
            </a:pPr>
            <a:r>
              <a:rPr lang="en-US" sz="8411">
                <a:solidFill>
                  <a:srgbClr val="005D77"/>
                </a:solidFill>
                <a:latin typeface="Montserrat"/>
                <a:ea typeface="Montserrat"/>
                <a:cs typeface="Montserrat"/>
                <a:sym typeface="Montserrat"/>
              </a:rPr>
              <a:t>Software Requirements &amp; Design Specification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2775" y="8298000"/>
            <a:ext cx="108312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Softwa</a:t>
            </a:r>
            <a:r>
              <a:rPr lang="en-US" b="true" sz="36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 Engineering (CSSE3113)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663778" y="3159630"/>
            <a:ext cx="9241492" cy="7113508"/>
          </a:xfrm>
          <a:custGeom>
            <a:avLst/>
            <a:gdLst/>
            <a:ahLst/>
            <a:cxnLst/>
            <a:rect r="r" b="b" t="t" l="l"/>
            <a:pathLst>
              <a:path h="7113508" w="9241492">
                <a:moveTo>
                  <a:pt x="0" y="0"/>
                </a:moveTo>
                <a:lnTo>
                  <a:pt x="9241492" y="0"/>
                </a:lnTo>
                <a:lnTo>
                  <a:pt x="9241492" y="7113508"/>
                </a:lnTo>
                <a:lnTo>
                  <a:pt x="0" y="711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891650" y="8176026"/>
            <a:ext cx="7396350" cy="2110950"/>
            <a:chOff x="0" y="0"/>
            <a:chExt cx="9861800" cy="28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300"/>
            <a:ext cx="7396350" cy="2110950"/>
            <a:chOff x="0" y="0"/>
            <a:chExt cx="9861800" cy="28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3366200" y="6103400"/>
            <a:ext cx="1638650" cy="6768400"/>
            <a:chOff x="0" y="0"/>
            <a:chExt cx="2184867" cy="9024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3283150" y="-2564874"/>
            <a:ext cx="1638650" cy="6768400"/>
            <a:chOff x="0" y="0"/>
            <a:chExt cx="2184867" cy="9024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7775" y="2690550"/>
            <a:ext cx="936165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</a:t>
            </a:r>
            <a:r>
              <a:rPr lang="en-US" b="true" sz="24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 Muhammad Daniyal           G1F23UBSCS051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Ali Akbar Gonal                               G1F23UBSCS061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Abdullah Mazhar                            G1F23UBSCS066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M. Usman Khalid Mughal             G1F23UBSCS097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Abu Umair                                        G1F23UBSCS306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7750" y="1490599"/>
            <a:ext cx="51008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Prepared By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8275" y="6157650"/>
            <a:ext cx="51008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Supervisor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0783" y="7357800"/>
            <a:ext cx="422880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Prof. Obaid Ullah Obaid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986450"/>
            <a:ext cx="51008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Organization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2644" y="9241026"/>
            <a:ext cx="145898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Department of Computer Science, University of Central Punjab, Gujranwala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4954" y="978950"/>
            <a:ext cx="1432500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Introduction &amp; Purpose of the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7480" y="3367961"/>
            <a:ext cx="11097896" cy="680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purpose of this project is to define the software requirements and architectural design for the Current Account Banking System.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system is being developed as a secure, web-based banking platform that manages current accounts.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is strictly designed to ensure zero-interest handling, overdraft facilities, and real-time transaction processing.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software acts as a self-contained product connecting to a centralized cloud database, ensuring 24/7 access and ACID-compliant data consistency.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72436" y="2751598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217950" y="647700"/>
            <a:ext cx="113718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Core Problems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 Addressed by the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87425" y="1991325"/>
            <a:ext cx="11888975" cy="728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Replacing Manual Ledgers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system replaces outdated, manual accounting ledgers with a real-time digital balance database, eliminating human mathematical errors.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Compliance: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It solves the critical compliance issue of accidentally applying interest to Current Accounts by hardcoding a strict 0% interest rule into the transaction logic.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Physical Cash &amp; Cheque Bottlenecks: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It removes the reliance on physical cash handling for transfers and digitizes the slow, manual cheque-clearing process.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Accessibility: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replaces the need for customers to visit physical utility offices by integrating real-time Bill Payments and Mobile Top-ups directly into the portal.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3054096" y="3159630"/>
            <a:ext cx="9241492" cy="7113508"/>
          </a:xfrm>
          <a:custGeom>
            <a:avLst/>
            <a:gdLst/>
            <a:ahLst/>
            <a:cxnLst/>
            <a:rect r="r" b="b" t="t" l="l"/>
            <a:pathLst>
              <a:path h="7113508" w="9241492">
                <a:moveTo>
                  <a:pt x="0" y="0"/>
                </a:moveTo>
                <a:lnTo>
                  <a:pt x="9241492" y="0"/>
                </a:lnTo>
                <a:lnTo>
                  <a:pt x="9241492" y="7113508"/>
                </a:lnTo>
                <a:lnTo>
                  <a:pt x="0" y="711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81725" y="227473"/>
            <a:ext cx="1432500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Use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r Classes &amp; Project Stakeholders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5" y="2617184"/>
            <a:ext cx="11471002" cy="8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ustomers (Account Holders):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Non-technical users who require a personal dashboard to view balances, transfer funds, pay bills, and set standing instructions securely.</a:t>
            </a:r>
          </a:p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Bank </a:t>
            </a: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Tellers (Cashiers):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Bank employees at the counter focused on speed and accuracy. They require specialized modules for cash deposits, withdrawals, and cheque clearances.</a:t>
            </a:r>
          </a:p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Bank</a:t>
            </a: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Admins (Managers/IT):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Technically competent staff who act as administrative stakeholders. They require full access to account creation, limit setting, transaction reversals, and system audits.</a:t>
            </a:r>
          </a:p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Regulatory Bodies: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External stakeholders requiring the system to comply with strict KYC (Know Your Customer), AML (Anti-Money Laundering), and PCI-DSS data privacy laws.</a:t>
            </a:r>
          </a:p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</a:p>
          <a:p>
            <a:pPr algn="ctr">
              <a:lnSpc>
                <a:spcPts val="348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72436" y="2751598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458062" y="1340900"/>
            <a:ext cx="113718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Pro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duct Scope &amp; Goals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36341" y="3159630"/>
            <a:ext cx="10822959" cy="63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Provide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strict Role-Based Access Control (RBAC) to separate Admin, Teller, and Customer permissions.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Manage "Current Accounts" specifically, ensuring 0% interest is strictly applied and calculated.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Facilitate automated fund transfers, utility bill payments, and beneficiary management.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unique banking features such as Chequebook Management, Stop Payment services, and Debit Card "Panic Button" blocking.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3054096" y="3159630"/>
            <a:ext cx="9241492" cy="7113508"/>
          </a:xfrm>
          <a:custGeom>
            <a:avLst/>
            <a:gdLst/>
            <a:ahLst/>
            <a:cxnLst/>
            <a:rect r="r" b="b" t="t" l="l"/>
            <a:pathLst>
              <a:path h="7113508" w="9241492">
                <a:moveTo>
                  <a:pt x="0" y="0"/>
                </a:moveTo>
                <a:lnTo>
                  <a:pt x="9241492" y="0"/>
                </a:lnTo>
                <a:lnTo>
                  <a:pt x="9241492" y="7113508"/>
                </a:lnTo>
                <a:lnTo>
                  <a:pt x="0" y="711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" y="0"/>
            <a:ext cx="3626186" cy="3685450"/>
            <a:chOff x="0" y="0"/>
            <a:chExt cx="4834915" cy="4913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4364538" cy="4913757"/>
            </a:xfrm>
            <a:custGeom>
              <a:avLst/>
              <a:gdLst/>
              <a:ahLst/>
              <a:cxnLst/>
              <a:rect r="r" b="b" t="t" l="l"/>
              <a:pathLst>
                <a:path h="4913757" w="4364538">
                  <a:moveTo>
                    <a:pt x="0" y="0"/>
                  </a:moveTo>
                  <a:lnTo>
                    <a:pt x="0" y="4913757"/>
                  </a:lnTo>
                  <a:cubicBezTo>
                    <a:pt x="0" y="4913757"/>
                    <a:pt x="127" y="4913757"/>
                    <a:pt x="381" y="4913757"/>
                  </a:cubicBezTo>
                  <a:cubicBezTo>
                    <a:pt x="26797" y="4913757"/>
                    <a:pt x="1560322" y="4909693"/>
                    <a:pt x="1633601" y="3976497"/>
                  </a:cubicBezTo>
                  <a:cubicBezTo>
                    <a:pt x="1707515" y="3035173"/>
                    <a:pt x="1362964" y="2758313"/>
                    <a:pt x="2052193" y="2283841"/>
                  </a:cubicBezTo>
                  <a:cubicBezTo>
                    <a:pt x="2741803" y="1809369"/>
                    <a:pt x="4834763" y="1524254"/>
                    <a:pt x="426847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95106" y="0"/>
            <a:ext cx="3092912" cy="3794594"/>
            <a:chOff x="0" y="0"/>
            <a:chExt cx="4123883" cy="50594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90501" y="127"/>
              <a:ext cx="3733443" cy="5059299"/>
            </a:xfrm>
            <a:custGeom>
              <a:avLst/>
              <a:gdLst/>
              <a:ahLst/>
              <a:cxnLst/>
              <a:rect r="r" b="b" t="t" l="l"/>
              <a:pathLst>
                <a:path h="5059299" w="3733443">
                  <a:moveTo>
                    <a:pt x="3733443" y="0"/>
                  </a:moveTo>
                  <a:lnTo>
                    <a:pt x="3733443" y="5059299"/>
                  </a:lnTo>
                  <a:cubicBezTo>
                    <a:pt x="3733443" y="5059299"/>
                    <a:pt x="3733316" y="5059299"/>
                    <a:pt x="3733062" y="5059299"/>
                  </a:cubicBezTo>
                  <a:cubicBezTo>
                    <a:pt x="3709186" y="5059299"/>
                    <a:pt x="2328315" y="5055108"/>
                    <a:pt x="2267609" y="4090035"/>
                  </a:cubicBezTo>
                  <a:cubicBezTo>
                    <a:pt x="2206395" y="3116707"/>
                    <a:pt x="2492399" y="2830449"/>
                    <a:pt x="1920010" y="2339721"/>
                  </a:cubicBezTo>
                  <a:cubicBezTo>
                    <a:pt x="1347621" y="1848993"/>
                    <a:pt x="-390501" y="1576070"/>
                    <a:pt x="7978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23968" y="6835817"/>
            <a:ext cx="450000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mob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ile frontend for customers is developed using Flutter (Dart) to ensure concurrent, secure deployment on iOS and Android from a single codebase.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55718" y="6416717"/>
            <a:ext cx="4500000" cy="376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core server logic is implem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ented using a high-performance Python framework (FastAPI) to ensure rapid response times and efficient handling of simultaneous ledger updates.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28803" y="2140697"/>
            <a:ext cx="1385843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How Much Efficient We Develop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205" y="5500927"/>
            <a:ext cx="525197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Cross-Platform </a:t>
            </a: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Efficiency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60282" y="5342672"/>
            <a:ext cx="469543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Backend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3643" y="6835817"/>
            <a:ext cx="4500000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admin and teller portals are built using React to handle complex data tables and transaction interfaces.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23730" y="5502317"/>
            <a:ext cx="491982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Web Dashboard </a:t>
            </a: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Efficiency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916000" y="3636122"/>
            <a:ext cx="1728000" cy="1725600"/>
            <a:chOff x="0" y="0"/>
            <a:chExt cx="2304000" cy="230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4034" cy="2300732"/>
            </a:xfrm>
            <a:custGeom>
              <a:avLst/>
              <a:gdLst/>
              <a:ahLst/>
              <a:cxnLst/>
              <a:rect r="r" b="b" t="t" l="l"/>
              <a:pathLst>
                <a:path h="2300732" w="2304034">
                  <a:moveTo>
                    <a:pt x="0" y="1150366"/>
                  </a:moveTo>
                  <a:cubicBezTo>
                    <a:pt x="0" y="515112"/>
                    <a:pt x="515747" y="0"/>
                    <a:pt x="1152017" y="0"/>
                  </a:cubicBezTo>
                  <a:cubicBezTo>
                    <a:pt x="1788287" y="0"/>
                    <a:pt x="2304034" y="515112"/>
                    <a:pt x="2304034" y="1150366"/>
                  </a:cubicBezTo>
                  <a:cubicBezTo>
                    <a:pt x="2304034" y="1785620"/>
                    <a:pt x="1788287" y="2300732"/>
                    <a:pt x="1152017" y="2300732"/>
                  </a:cubicBezTo>
                  <a:cubicBezTo>
                    <a:pt x="515747" y="2300732"/>
                    <a:pt x="0" y="1785747"/>
                    <a:pt x="0" y="1150366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644000" y="3636122"/>
            <a:ext cx="1728000" cy="1725600"/>
            <a:chOff x="0" y="0"/>
            <a:chExt cx="2304000" cy="230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4034" cy="2300732"/>
            </a:xfrm>
            <a:custGeom>
              <a:avLst/>
              <a:gdLst/>
              <a:ahLst/>
              <a:cxnLst/>
              <a:rect r="r" b="b" t="t" l="l"/>
              <a:pathLst>
                <a:path h="2300732" w="2304034">
                  <a:moveTo>
                    <a:pt x="0" y="1150366"/>
                  </a:moveTo>
                  <a:cubicBezTo>
                    <a:pt x="0" y="515112"/>
                    <a:pt x="515747" y="0"/>
                    <a:pt x="1152017" y="0"/>
                  </a:cubicBezTo>
                  <a:cubicBezTo>
                    <a:pt x="1788287" y="0"/>
                    <a:pt x="2304034" y="515112"/>
                    <a:pt x="2304034" y="1150366"/>
                  </a:cubicBezTo>
                  <a:cubicBezTo>
                    <a:pt x="2304034" y="1785620"/>
                    <a:pt x="1788287" y="2300732"/>
                    <a:pt x="1152017" y="2300732"/>
                  </a:cubicBezTo>
                  <a:cubicBezTo>
                    <a:pt x="515747" y="2300732"/>
                    <a:pt x="0" y="1785747"/>
                    <a:pt x="0" y="1150366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80000" y="3636122"/>
            <a:ext cx="1728000" cy="1725600"/>
            <a:chOff x="0" y="0"/>
            <a:chExt cx="2304000" cy="230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4034" cy="2300732"/>
            </a:xfrm>
            <a:custGeom>
              <a:avLst/>
              <a:gdLst/>
              <a:ahLst/>
              <a:cxnLst/>
              <a:rect r="r" b="b" t="t" l="l"/>
              <a:pathLst>
                <a:path h="2300732" w="2304034">
                  <a:moveTo>
                    <a:pt x="0" y="1150366"/>
                  </a:moveTo>
                  <a:cubicBezTo>
                    <a:pt x="0" y="515112"/>
                    <a:pt x="515747" y="0"/>
                    <a:pt x="1152017" y="0"/>
                  </a:cubicBezTo>
                  <a:cubicBezTo>
                    <a:pt x="1788287" y="0"/>
                    <a:pt x="2304034" y="515112"/>
                    <a:pt x="2304034" y="1150366"/>
                  </a:cubicBezTo>
                  <a:cubicBezTo>
                    <a:pt x="2304034" y="1785620"/>
                    <a:pt x="1788287" y="2300732"/>
                    <a:pt x="1152017" y="2300732"/>
                  </a:cubicBezTo>
                  <a:cubicBezTo>
                    <a:pt x="515747" y="2300732"/>
                    <a:pt x="0" y="1785747"/>
                    <a:pt x="0" y="1150366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52380" y="152422"/>
            <a:ext cx="2798932" cy="3838860"/>
          </a:xfrm>
          <a:custGeom>
            <a:avLst/>
            <a:gdLst/>
            <a:ahLst/>
            <a:cxnLst/>
            <a:rect r="r" b="b" t="t" l="l"/>
            <a:pathLst>
              <a:path h="3838860" w="2798932">
                <a:moveTo>
                  <a:pt x="0" y="0"/>
                </a:moveTo>
                <a:lnTo>
                  <a:pt x="2798932" y="0"/>
                </a:lnTo>
                <a:lnTo>
                  <a:pt x="2798932" y="3838860"/>
                </a:lnTo>
                <a:lnTo>
                  <a:pt x="0" y="3838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18025" y="4115741"/>
            <a:ext cx="986414" cy="766362"/>
          </a:xfrm>
          <a:custGeom>
            <a:avLst/>
            <a:gdLst/>
            <a:ahLst/>
            <a:cxnLst/>
            <a:rect r="r" b="b" t="t" l="l"/>
            <a:pathLst>
              <a:path h="766362" w="986414">
                <a:moveTo>
                  <a:pt x="0" y="0"/>
                </a:moveTo>
                <a:lnTo>
                  <a:pt x="986414" y="0"/>
                </a:lnTo>
                <a:lnTo>
                  <a:pt x="986414" y="766362"/>
                </a:lnTo>
                <a:lnTo>
                  <a:pt x="0" y="7663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50786" y="3976100"/>
            <a:ext cx="986428" cy="986398"/>
          </a:xfrm>
          <a:custGeom>
            <a:avLst/>
            <a:gdLst/>
            <a:ahLst/>
            <a:cxnLst/>
            <a:rect r="r" b="b" t="t" l="l"/>
            <a:pathLst>
              <a:path h="986398" w="986428">
                <a:moveTo>
                  <a:pt x="0" y="0"/>
                </a:moveTo>
                <a:lnTo>
                  <a:pt x="986428" y="0"/>
                </a:lnTo>
                <a:lnTo>
                  <a:pt x="986428" y="986398"/>
                </a:lnTo>
                <a:lnTo>
                  <a:pt x="0" y="9863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286807" y="3991282"/>
            <a:ext cx="986386" cy="971216"/>
          </a:xfrm>
          <a:custGeom>
            <a:avLst/>
            <a:gdLst/>
            <a:ahLst/>
            <a:cxnLst/>
            <a:rect r="r" b="b" t="t" l="l"/>
            <a:pathLst>
              <a:path h="971216" w="986386">
                <a:moveTo>
                  <a:pt x="0" y="0"/>
                </a:moveTo>
                <a:lnTo>
                  <a:pt x="986386" y="0"/>
                </a:lnTo>
                <a:lnTo>
                  <a:pt x="986386" y="971216"/>
                </a:lnTo>
                <a:lnTo>
                  <a:pt x="0" y="9712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267056" y="152422"/>
            <a:ext cx="3868584" cy="3479608"/>
          </a:xfrm>
          <a:custGeom>
            <a:avLst/>
            <a:gdLst/>
            <a:ahLst/>
            <a:cxnLst/>
            <a:rect r="r" b="b" t="t" l="l"/>
            <a:pathLst>
              <a:path h="3479608" w="3868584">
                <a:moveTo>
                  <a:pt x="0" y="0"/>
                </a:moveTo>
                <a:lnTo>
                  <a:pt x="3868584" y="0"/>
                </a:lnTo>
                <a:lnTo>
                  <a:pt x="3868584" y="3479608"/>
                </a:lnTo>
                <a:lnTo>
                  <a:pt x="0" y="34796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8" y="8176026"/>
            <a:ext cx="7396350" cy="2110950"/>
            <a:chOff x="0" y="0"/>
            <a:chExt cx="9861800" cy="28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91668" y="12300"/>
            <a:ext cx="7396350" cy="2110950"/>
            <a:chOff x="0" y="0"/>
            <a:chExt cx="9861800" cy="28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37800" y="4045600"/>
            <a:ext cx="1620000" cy="1108800"/>
            <a:chOff x="0" y="0"/>
            <a:chExt cx="2160000" cy="147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9889" cy="1478280"/>
            </a:xfrm>
            <a:custGeom>
              <a:avLst/>
              <a:gdLst/>
              <a:ahLst/>
              <a:cxnLst/>
              <a:rect r="r" b="b" t="t" l="l"/>
              <a:pathLst>
                <a:path h="1478280" w="2159889">
                  <a:moveTo>
                    <a:pt x="0" y="739140"/>
                  </a:moveTo>
                  <a:cubicBezTo>
                    <a:pt x="0" y="330962"/>
                    <a:pt x="330962" y="0"/>
                    <a:pt x="739140" y="0"/>
                  </a:cubicBezTo>
                  <a:lnTo>
                    <a:pt x="1420749" y="0"/>
                  </a:lnTo>
                  <a:cubicBezTo>
                    <a:pt x="1829054" y="0"/>
                    <a:pt x="2159889" y="330962"/>
                    <a:pt x="2159889" y="739140"/>
                  </a:cubicBezTo>
                  <a:cubicBezTo>
                    <a:pt x="2159889" y="1147318"/>
                    <a:pt x="1828927" y="1478280"/>
                    <a:pt x="1420749" y="1478280"/>
                  </a:cubicBezTo>
                  <a:lnTo>
                    <a:pt x="739140" y="1478280"/>
                  </a:lnTo>
                  <a:cubicBezTo>
                    <a:pt x="330962" y="1478407"/>
                    <a:pt x="0" y="1147445"/>
                    <a:pt x="0" y="739140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29000" y="5750900"/>
            <a:ext cx="1620000" cy="1108800"/>
            <a:chOff x="0" y="0"/>
            <a:chExt cx="2160000" cy="147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889" cy="1478280"/>
            </a:xfrm>
            <a:custGeom>
              <a:avLst/>
              <a:gdLst/>
              <a:ahLst/>
              <a:cxnLst/>
              <a:rect r="r" b="b" t="t" l="l"/>
              <a:pathLst>
                <a:path h="1478280" w="2159889">
                  <a:moveTo>
                    <a:pt x="0" y="739140"/>
                  </a:moveTo>
                  <a:cubicBezTo>
                    <a:pt x="0" y="330962"/>
                    <a:pt x="330962" y="0"/>
                    <a:pt x="739140" y="0"/>
                  </a:cubicBezTo>
                  <a:lnTo>
                    <a:pt x="1420749" y="0"/>
                  </a:lnTo>
                  <a:cubicBezTo>
                    <a:pt x="1829054" y="0"/>
                    <a:pt x="2159889" y="330962"/>
                    <a:pt x="2159889" y="739140"/>
                  </a:cubicBezTo>
                  <a:cubicBezTo>
                    <a:pt x="2159889" y="1147318"/>
                    <a:pt x="1828927" y="1478280"/>
                    <a:pt x="1420749" y="1478280"/>
                  </a:cubicBezTo>
                  <a:lnTo>
                    <a:pt x="739140" y="1478280"/>
                  </a:lnTo>
                  <a:cubicBezTo>
                    <a:pt x="330962" y="1478407"/>
                    <a:pt x="0" y="1147445"/>
                    <a:pt x="0" y="739140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227400" y="7450200"/>
            <a:ext cx="1620000" cy="1108800"/>
            <a:chOff x="0" y="0"/>
            <a:chExt cx="2160000" cy="147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9889" cy="1478280"/>
            </a:xfrm>
            <a:custGeom>
              <a:avLst/>
              <a:gdLst/>
              <a:ahLst/>
              <a:cxnLst/>
              <a:rect r="r" b="b" t="t" l="l"/>
              <a:pathLst>
                <a:path h="1478280" w="2159889">
                  <a:moveTo>
                    <a:pt x="0" y="739140"/>
                  </a:moveTo>
                  <a:cubicBezTo>
                    <a:pt x="0" y="330962"/>
                    <a:pt x="330962" y="0"/>
                    <a:pt x="739140" y="0"/>
                  </a:cubicBezTo>
                  <a:lnTo>
                    <a:pt x="1420749" y="0"/>
                  </a:lnTo>
                  <a:cubicBezTo>
                    <a:pt x="1829054" y="0"/>
                    <a:pt x="2159889" y="330962"/>
                    <a:pt x="2159889" y="739140"/>
                  </a:cubicBezTo>
                  <a:cubicBezTo>
                    <a:pt x="2159889" y="1147318"/>
                    <a:pt x="1828927" y="1478280"/>
                    <a:pt x="1420749" y="1478280"/>
                  </a:cubicBezTo>
                  <a:lnTo>
                    <a:pt x="739140" y="1478280"/>
                  </a:lnTo>
                  <a:cubicBezTo>
                    <a:pt x="330962" y="1478407"/>
                    <a:pt x="0" y="1147445"/>
                    <a:pt x="0" y="739140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000" y="2343800"/>
            <a:ext cx="1620000" cy="1108800"/>
            <a:chOff x="0" y="0"/>
            <a:chExt cx="2160000" cy="147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9889" cy="1478280"/>
            </a:xfrm>
            <a:custGeom>
              <a:avLst/>
              <a:gdLst/>
              <a:ahLst/>
              <a:cxnLst/>
              <a:rect r="r" b="b" t="t" l="l"/>
              <a:pathLst>
                <a:path h="1478280" w="2159889">
                  <a:moveTo>
                    <a:pt x="0" y="739140"/>
                  </a:moveTo>
                  <a:cubicBezTo>
                    <a:pt x="0" y="330962"/>
                    <a:pt x="330962" y="0"/>
                    <a:pt x="739140" y="0"/>
                  </a:cubicBezTo>
                  <a:lnTo>
                    <a:pt x="1420749" y="0"/>
                  </a:lnTo>
                  <a:cubicBezTo>
                    <a:pt x="1829054" y="0"/>
                    <a:pt x="2159889" y="330962"/>
                    <a:pt x="2159889" y="739140"/>
                  </a:cubicBezTo>
                  <a:cubicBezTo>
                    <a:pt x="2159889" y="1147318"/>
                    <a:pt x="1828927" y="1478280"/>
                    <a:pt x="1420749" y="1478280"/>
                  </a:cubicBezTo>
                  <a:lnTo>
                    <a:pt x="739140" y="1478280"/>
                  </a:lnTo>
                  <a:cubicBezTo>
                    <a:pt x="330962" y="1478407"/>
                    <a:pt x="0" y="1147445"/>
                    <a:pt x="0" y="739140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30000" y="2416775"/>
            <a:ext cx="1439400" cy="94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28400" y="3112150"/>
            <a:ext cx="8820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ual physical ledgers are replaced by an ACID-compliant PostgreSQL database.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57800" y="4071075"/>
            <a:ext cx="8820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Fund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 Transfers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28400" y="4118575"/>
            <a:ext cx="1439400" cy="94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19600" y="4817450"/>
            <a:ext cx="1120076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Physical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cash handling is replaced by Automated API-driven Digital Transfers that instantly deduct service charges.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39000" y="5731850"/>
            <a:ext cx="8820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Recurring Payments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19600" y="5823875"/>
            <a:ext cx="1439400" cy="94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39000" y="6552925"/>
            <a:ext cx="1132513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ual monthly rent cheques are replaced by Automated Standing Instructions (FR11) that execute automatically.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217632" y="1057925"/>
            <a:ext cx="152280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What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 Changes and Comparisons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38825" y="7482612"/>
            <a:ext cx="88171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Auditing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19425" y="7523175"/>
            <a:ext cx="1436550" cy="94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38825" y="8355150"/>
            <a:ext cx="881715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anual file audits are replaced by Automated Encrypted Backups and System Audit Logs (FR8).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-609600" y="6605772"/>
            <a:ext cx="5052020" cy="4290840"/>
          </a:xfrm>
          <a:custGeom>
            <a:avLst/>
            <a:gdLst/>
            <a:ahLst/>
            <a:cxnLst/>
            <a:rect r="r" b="b" t="t" l="l"/>
            <a:pathLst>
              <a:path h="4290840" w="5052020">
                <a:moveTo>
                  <a:pt x="0" y="0"/>
                </a:moveTo>
                <a:lnTo>
                  <a:pt x="5052020" y="0"/>
                </a:lnTo>
                <a:lnTo>
                  <a:pt x="5052020" y="4290840"/>
                </a:lnTo>
                <a:lnTo>
                  <a:pt x="0" y="4290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560378" y="152422"/>
            <a:ext cx="3575260" cy="3955934"/>
          </a:xfrm>
          <a:custGeom>
            <a:avLst/>
            <a:gdLst/>
            <a:ahLst/>
            <a:cxnLst/>
            <a:rect r="r" b="b" t="t" l="l"/>
            <a:pathLst>
              <a:path h="3955934" w="3575260">
                <a:moveTo>
                  <a:pt x="0" y="0"/>
                </a:moveTo>
                <a:lnTo>
                  <a:pt x="3575260" y="0"/>
                </a:lnTo>
                <a:lnTo>
                  <a:pt x="3575260" y="3955934"/>
                </a:lnTo>
                <a:lnTo>
                  <a:pt x="0" y="3955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128400" y="2439125"/>
            <a:ext cx="8820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Record Keeping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81725" y="227473"/>
            <a:ext cx="1432500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Authentic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ation &amp; Account Fund Management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5" y="2617184"/>
            <a:ext cx="11471002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FR1: Authentication &amp; Access Control: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Enforces strict Role-Based Access Control (RBAC). Admins have full access to limits;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Tellers access deposit modules; Customers access personal transfer interfaces.</a:t>
            </a:r>
          </a:p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FR2: Account</a:t>
            </a: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Fund Management: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Replaces manual ledgers. Tellers process cash deposits by entering specific depositor details, and the system automatically increments/decrements the real-time balance immediately.</a:t>
            </a:r>
          </a:p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FR2.3 &amp; FR2.4: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The system triggers Low Balance Alerts and allows Admins to securely reverse transactions with a mandatory reason entry.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48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72436" y="2751598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458062" y="1340900"/>
            <a:ext cx="113718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Transa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ction Processing &amp; Chequebook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36341" y="3159630"/>
            <a:ext cx="10822959" cy="728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FR3: Transaction Proces</a:t>
            </a: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sing &amp; Transfers: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system validates beneficiary accounts and automatically calculates transfer amounts, ensuring the Current Account applies a strict 0% interest rate.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FR3.3 &amp; FR3.4: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Generates professional digital PDF receipts for successful transfers and automatically rolls back funds for failed transactions to prevent data inconsistency.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FR4: Chequebook &amp; Ov</a:t>
            </a: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erdrafts: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Customers can request 10, 25, or 50-leaf chequebooks, use Admin-assigned "Overdraft Limits", and instantly trigger "Stop Payments" to block specific cheque numbers.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3054096" y="3159630"/>
            <a:ext cx="9241492" cy="7113508"/>
          </a:xfrm>
          <a:custGeom>
            <a:avLst/>
            <a:gdLst/>
            <a:ahLst/>
            <a:cxnLst/>
            <a:rect r="r" b="b" t="t" l="l"/>
            <a:pathLst>
              <a:path h="7113508" w="9241492">
                <a:moveTo>
                  <a:pt x="0" y="0"/>
                </a:moveTo>
                <a:lnTo>
                  <a:pt x="9241492" y="0"/>
                </a:lnTo>
                <a:lnTo>
                  <a:pt x="9241492" y="7113508"/>
                </a:lnTo>
                <a:lnTo>
                  <a:pt x="0" y="711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81725" y="227473"/>
            <a:ext cx="1432500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Benefici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aries &amp; System Reporting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9025" y="2751598"/>
            <a:ext cx="9578927" cy="729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FR5: Beneficiary &amp; Payee Management: 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system maintains a secure database of saved beneficiaries (Name, Account Number, Bank) for quick transfers and enforces bank-defined daily transfer limits per payee.</a:t>
            </a:r>
          </a:p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FR6: Reporting &amp; Statements: 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Provides crucial tracking for customer auditing. The dashboard generates a "Mini-Statement" of the last 10 transactions.</a:t>
            </a:r>
          </a:p>
          <a:p>
            <a:pPr algn="ctr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FR6.2 &amp; FR6.3: </a:t>
            </a:r>
            <a:r>
              <a:rPr lang="en-US" b="true" sz="30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Generates detailed monthly PDF statements showing opening/closing balances and allows users to export full transaction histories in Excel (.xlsx) or PDF formats.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48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72436" y="2751598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458062" y="1340900"/>
            <a:ext cx="113718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Search Capabili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ties &amp; System Administration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36341" y="3159630"/>
            <a:ext cx="10822959" cy="680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FR7: Search &amp; Filter Capabilities: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Replaces the slow process of finding old records. Provides a global search bar to locate transactions by ID, Cheque Number, or Beneficiary, along with advanced Date and Amount filtering.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FR8: System Administration &amp; Maintenance: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Ensures the software remains healthy and secure. The system performs automatic, AES-256 encrypted daily cloud backups of all financial ledgers.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FR8.2: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Maintains strict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Au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dit Logs that record every action taken by Tellers or Admins to prevent internal fraud.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3054096" y="3159630"/>
            <a:ext cx="9241492" cy="7113508"/>
          </a:xfrm>
          <a:custGeom>
            <a:avLst/>
            <a:gdLst/>
            <a:ahLst/>
            <a:cxnLst/>
            <a:rect r="r" b="b" t="t" l="l"/>
            <a:pathLst>
              <a:path h="7113508" w="9241492">
                <a:moveTo>
                  <a:pt x="0" y="0"/>
                </a:moveTo>
                <a:lnTo>
                  <a:pt x="9241492" y="0"/>
                </a:lnTo>
                <a:lnTo>
                  <a:pt x="9241492" y="7113508"/>
                </a:lnTo>
                <a:lnTo>
                  <a:pt x="0" y="711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458062" y="1340900"/>
            <a:ext cx="113718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Value-Added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 Services &amp; Customer Support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07766" y="3159630"/>
            <a:ext cx="10822959" cy="728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FR9 (Debit Cards):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Allows users to request physical cards, manage 4-digit PINs, set daily online/ATM limits, and utilize a "Panic Button" to instantly freeze cards.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FR10 (Bill Payments):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Allows users to add consumer numbers to instantly pay electricity, gas, and internet bills, alongside mobile top-ups.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FR11 (Stan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ding Instructions): Customers can schedule Weekly, Monthly, or Annual recurring transfers (e.g., rent) that auto-execute without manual intervention.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FR12 (Ticketing):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Integrated complaint logging system assigning unique Ticket IDs to track Open/In-Progress/Resolved issues.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3054096" y="3159630"/>
            <a:ext cx="9241492" cy="7113508"/>
          </a:xfrm>
          <a:custGeom>
            <a:avLst/>
            <a:gdLst/>
            <a:ahLst/>
            <a:cxnLst/>
            <a:rect r="r" b="b" t="t" l="l"/>
            <a:pathLst>
              <a:path h="7113508" w="9241492">
                <a:moveTo>
                  <a:pt x="0" y="0"/>
                </a:moveTo>
                <a:lnTo>
                  <a:pt x="9241492" y="0"/>
                </a:lnTo>
                <a:lnTo>
                  <a:pt x="9241492" y="7113508"/>
                </a:lnTo>
                <a:lnTo>
                  <a:pt x="0" y="711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680709" y="2873398"/>
            <a:ext cx="12287486" cy="475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</a:pPr>
            <a:r>
              <a:rPr lang="en-US" sz="68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N</a:t>
            </a:r>
            <a:r>
              <a:rPr lang="en-US" sz="68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on-Functional</a:t>
            </a:r>
          </a:p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 Requirements (NFR1 to NFR6)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0452" y="620004"/>
            <a:ext cx="5070062" cy="9046992"/>
          </a:xfrm>
          <a:custGeom>
            <a:avLst/>
            <a:gdLst/>
            <a:ahLst/>
            <a:cxnLst/>
            <a:rect r="r" b="b" t="t" l="l"/>
            <a:pathLst>
              <a:path h="9046992" w="5070062">
                <a:moveTo>
                  <a:pt x="0" y="0"/>
                </a:moveTo>
                <a:lnTo>
                  <a:pt x="5070062" y="0"/>
                </a:lnTo>
                <a:lnTo>
                  <a:pt x="5070062" y="9046992"/>
                </a:lnTo>
                <a:lnTo>
                  <a:pt x="0" y="9046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891650" y="8176026"/>
            <a:ext cx="7396350" cy="2110950"/>
            <a:chOff x="0" y="0"/>
            <a:chExt cx="9861800" cy="28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300"/>
            <a:ext cx="7396350" cy="2110950"/>
            <a:chOff x="0" y="0"/>
            <a:chExt cx="9861800" cy="28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00582" y="8301350"/>
            <a:ext cx="8338036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Prev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ents negative number inputs, provides financial error messaging, and ensures responsive cross-browser compatibility (Chrome, Edge, Safari).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337660" y="971325"/>
            <a:ext cx="152280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sz="5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Security, </a:t>
            </a:r>
            <a:r>
              <a:rPr lang="en-US" sz="5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Reliability &amp; Performance NFRs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8175" y="3702150"/>
            <a:ext cx="43128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Security (NFR1):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5362" y="4302225"/>
            <a:ext cx="6018425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Enc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rypts sensitive customer data (CNIC, Passwords) using AES-256 and auto-logs out users after 5 minutes of inactivity.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29606" y="3692625"/>
            <a:ext cx="96799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Performance &amp; Scalability (NFR2 &amp; NF</a:t>
            </a:r>
            <a:r>
              <a:rPr lang="en-US" sz="32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R5):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7006" y="4302225"/>
            <a:ext cx="797880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Must process at le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ast 100 transactions per second (TPS) during peak hours, update dashboards within 2 seconds, and seamlessly store 10 years of data growth.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3200" y="7345664"/>
            <a:ext cx="43128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Reliability (NFR3):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72013" y="8185551"/>
            <a:ext cx="5965124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Mandates ACID Com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pliance for atomic transactions (no partial deductions on network failures) and guarantees 99.9% uptime.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37006" y="7195675"/>
            <a:ext cx="6409298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Usability &amp; Portability (</a:t>
            </a:r>
            <a:r>
              <a:rPr lang="en-US" sz="3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NFR4 &amp; NFR6):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325600" y="2714400"/>
            <a:ext cx="1008000" cy="1006800"/>
            <a:chOff x="0" y="0"/>
            <a:chExt cx="1344000" cy="1342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3914" cy="1342390"/>
            </a:xfrm>
            <a:custGeom>
              <a:avLst/>
              <a:gdLst/>
              <a:ahLst/>
              <a:cxnLst/>
              <a:rect r="r" b="b" t="t" l="l"/>
              <a:pathLst>
                <a:path h="1342390" w="1343914">
                  <a:moveTo>
                    <a:pt x="0" y="671195"/>
                  </a:moveTo>
                  <a:cubicBezTo>
                    <a:pt x="0" y="300482"/>
                    <a:pt x="300863" y="0"/>
                    <a:pt x="671957" y="0"/>
                  </a:cubicBezTo>
                  <a:cubicBezTo>
                    <a:pt x="1043051" y="0"/>
                    <a:pt x="1343914" y="300482"/>
                    <a:pt x="1343914" y="671195"/>
                  </a:cubicBezTo>
                  <a:cubicBezTo>
                    <a:pt x="1343914" y="1041908"/>
                    <a:pt x="1043178" y="1342390"/>
                    <a:pt x="671957" y="1342390"/>
                  </a:cubicBezTo>
                  <a:cubicBezTo>
                    <a:pt x="300736" y="1342390"/>
                    <a:pt x="0" y="1041908"/>
                    <a:pt x="0" y="671195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61600" y="2714400"/>
            <a:ext cx="1008000" cy="1006800"/>
            <a:chOff x="0" y="0"/>
            <a:chExt cx="1344000" cy="1342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3914" cy="1342390"/>
            </a:xfrm>
            <a:custGeom>
              <a:avLst/>
              <a:gdLst/>
              <a:ahLst/>
              <a:cxnLst/>
              <a:rect r="r" b="b" t="t" l="l"/>
              <a:pathLst>
                <a:path h="1342390" w="1343914">
                  <a:moveTo>
                    <a:pt x="0" y="671195"/>
                  </a:moveTo>
                  <a:cubicBezTo>
                    <a:pt x="0" y="300482"/>
                    <a:pt x="300863" y="0"/>
                    <a:pt x="671957" y="0"/>
                  </a:cubicBezTo>
                  <a:cubicBezTo>
                    <a:pt x="1043051" y="0"/>
                    <a:pt x="1343914" y="300482"/>
                    <a:pt x="1343914" y="671195"/>
                  </a:cubicBezTo>
                  <a:cubicBezTo>
                    <a:pt x="1343914" y="1041908"/>
                    <a:pt x="1043178" y="1342390"/>
                    <a:pt x="671957" y="1342390"/>
                  </a:cubicBezTo>
                  <a:cubicBezTo>
                    <a:pt x="300736" y="1342390"/>
                    <a:pt x="0" y="1041908"/>
                    <a:pt x="0" y="671195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325600" y="6227750"/>
            <a:ext cx="1008000" cy="1006800"/>
            <a:chOff x="0" y="0"/>
            <a:chExt cx="1344000" cy="134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3914" cy="1342390"/>
            </a:xfrm>
            <a:custGeom>
              <a:avLst/>
              <a:gdLst/>
              <a:ahLst/>
              <a:cxnLst/>
              <a:rect r="r" b="b" t="t" l="l"/>
              <a:pathLst>
                <a:path h="1342390" w="1343914">
                  <a:moveTo>
                    <a:pt x="0" y="671195"/>
                  </a:moveTo>
                  <a:cubicBezTo>
                    <a:pt x="0" y="300482"/>
                    <a:pt x="300863" y="0"/>
                    <a:pt x="671957" y="0"/>
                  </a:cubicBezTo>
                  <a:cubicBezTo>
                    <a:pt x="1043051" y="0"/>
                    <a:pt x="1343914" y="300482"/>
                    <a:pt x="1343914" y="671195"/>
                  </a:cubicBezTo>
                  <a:cubicBezTo>
                    <a:pt x="1343914" y="1041908"/>
                    <a:pt x="1043178" y="1342390"/>
                    <a:pt x="671957" y="1342390"/>
                  </a:cubicBezTo>
                  <a:cubicBezTo>
                    <a:pt x="300736" y="1342390"/>
                    <a:pt x="0" y="1041908"/>
                    <a:pt x="0" y="671195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961600" y="6227750"/>
            <a:ext cx="1008000" cy="1006800"/>
            <a:chOff x="0" y="0"/>
            <a:chExt cx="1344000" cy="134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3914" cy="1342390"/>
            </a:xfrm>
            <a:custGeom>
              <a:avLst/>
              <a:gdLst/>
              <a:ahLst/>
              <a:cxnLst/>
              <a:rect r="r" b="b" t="t" l="l"/>
              <a:pathLst>
                <a:path h="1342390" w="1343914">
                  <a:moveTo>
                    <a:pt x="0" y="671195"/>
                  </a:moveTo>
                  <a:cubicBezTo>
                    <a:pt x="0" y="300482"/>
                    <a:pt x="300863" y="0"/>
                    <a:pt x="671957" y="0"/>
                  </a:cubicBezTo>
                  <a:cubicBezTo>
                    <a:pt x="1043051" y="0"/>
                    <a:pt x="1343914" y="300482"/>
                    <a:pt x="1343914" y="671195"/>
                  </a:cubicBezTo>
                  <a:cubicBezTo>
                    <a:pt x="1343914" y="1041908"/>
                    <a:pt x="1043178" y="1342390"/>
                    <a:pt x="671957" y="1342390"/>
                  </a:cubicBezTo>
                  <a:cubicBezTo>
                    <a:pt x="300736" y="1342390"/>
                    <a:pt x="0" y="1041908"/>
                    <a:pt x="0" y="671195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-918495" y="6734307"/>
            <a:ext cx="3894390" cy="4559838"/>
          </a:xfrm>
          <a:custGeom>
            <a:avLst/>
            <a:gdLst/>
            <a:ahLst/>
            <a:cxnLst/>
            <a:rect r="r" b="b" t="t" l="l"/>
            <a:pathLst>
              <a:path h="4559838" w="3894390">
                <a:moveTo>
                  <a:pt x="0" y="0"/>
                </a:moveTo>
                <a:lnTo>
                  <a:pt x="3894390" y="0"/>
                </a:lnTo>
                <a:lnTo>
                  <a:pt x="3894390" y="4559838"/>
                </a:lnTo>
                <a:lnTo>
                  <a:pt x="0" y="4559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746304" y="-675946"/>
            <a:ext cx="3761236" cy="4397146"/>
          </a:xfrm>
          <a:custGeom>
            <a:avLst/>
            <a:gdLst/>
            <a:ahLst/>
            <a:cxnLst/>
            <a:rect r="r" b="b" t="t" l="l"/>
            <a:pathLst>
              <a:path h="4397146" w="3761236">
                <a:moveTo>
                  <a:pt x="0" y="0"/>
                </a:moveTo>
                <a:lnTo>
                  <a:pt x="3761236" y="0"/>
                </a:lnTo>
                <a:lnTo>
                  <a:pt x="3761236" y="4397146"/>
                </a:lnTo>
                <a:lnTo>
                  <a:pt x="0" y="43971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541582" y="2925614"/>
            <a:ext cx="575988" cy="575986"/>
          </a:xfrm>
          <a:custGeom>
            <a:avLst/>
            <a:gdLst/>
            <a:ahLst/>
            <a:cxnLst/>
            <a:rect r="r" b="b" t="t" l="l"/>
            <a:pathLst>
              <a:path h="575986" w="575988">
                <a:moveTo>
                  <a:pt x="0" y="0"/>
                </a:moveTo>
                <a:lnTo>
                  <a:pt x="575988" y="0"/>
                </a:lnTo>
                <a:lnTo>
                  <a:pt x="575988" y="575986"/>
                </a:lnTo>
                <a:lnTo>
                  <a:pt x="0" y="5759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177600" y="2929800"/>
            <a:ext cx="576002" cy="576002"/>
          </a:xfrm>
          <a:custGeom>
            <a:avLst/>
            <a:gdLst/>
            <a:ahLst/>
            <a:cxnLst/>
            <a:rect r="r" b="b" t="t" l="l"/>
            <a:pathLst>
              <a:path h="576002" w="576002">
                <a:moveTo>
                  <a:pt x="0" y="0"/>
                </a:moveTo>
                <a:lnTo>
                  <a:pt x="576002" y="0"/>
                </a:lnTo>
                <a:lnTo>
                  <a:pt x="576002" y="576002"/>
                </a:lnTo>
                <a:lnTo>
                  <a:pt x="0" y="5760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541582" y="6443150"/>
            <a:ext cx="576002" cy="576002"/>
          </a:xfrm>
          <a:custGeom>
            <a:avLst/>
            <a:gdLst/>
            <a:ahLst/>
            <a:cxnLst/>
            <a:rect r="r" b="b" t="t" l="l"/>
            <a:pathLst>
              <a:path h="576002" w="576002">
                <a:moveTo>
                  <a:pt x="0" y="0"/>
                </a:moveTo>
                <a:lnTo>
                  <a:pt x="576002" y="0"/>
                </a:lnTo>
                <a:lnTo>
                  <a:pt x="576002" y="576002"/>
                </a:lnTo>
                <a:lnTo>
                  <a:pt x="0" y="5760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177594" y="6466648"/>
            <a:ext cx="576012" cy="529002"/>
          </a:xfrm>
          <a:custGeom>
            <a:avLst/>
            <a:gdLst/>
            <a:ahLst/>
            <a:cxnLst/>
            <a:rect r="r" b="b" t="t" l="l"/>
            <a:pathLst>
              <a:path h="529002" w="576012">
                <a:moveTo>
                  <a:pt x="0" y="0"/>
                </a:moveTo>
                <a:lnTo>
                  <a:pt x="576012" y="0"/>
                </a:lnTo>
                <a:lnTo>
                  <a:pt x="576012" y="529002"/>
                </a:lnTo>
                <a:lnTo>
                  <a:pt x="0" y="5290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4954" y="978950"/>
            <a:ext cx="1432500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The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 Purpose of Creating System Designs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7480" y="3367961"/>
            <a:ext cx="11097896" cy="63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 designs were created to establish a strict, visual architectural contract before any actual software coding began.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Financial software requires absolute precision; designs were created to map out exactly how the 0% interest logic and the ACID database rollbacks would behave under stress.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created these models to transition abstract textual requirements (like the 12 FRs) into logical workflows, ensuring the development team builds the exact processes requested by the banking stakeholders.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72436" y="2751598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458062" y="179148"/>
            <a:ext cx="113718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The Cri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tical Importance of Software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91501" y="2014963"/>
            <a:ext cx="10876260" cy="728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Ensuring Modularity: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mapping out Data Flow Diagrams (DFDs), we ensure the system is modular. This allows the bank to add new features later without breaking the core Current Account ledger.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Preventing Data Redundancy: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 carefully designed Entity-Relationship Diagram (ERD) ensures the database relies on strict Primary and Foreign keys, preventing data duplication and database crashes.</a:t>
            </a:r>
          </a:p>
          <a:p>
            <a:pPr algn="ctr" marL="690893" indent="-345447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Mitigation: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Designing UML diagrams allows us to identify security loopholes, logical errors, and data flow bottlenecks early in the lifecycle, significantly reducing debugging time and project costs.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3054096" y="3159630"/>
            <a:ext cx="9241492" cy="7113508"/>
          </a:xfrm>
          <a:custGeom>
            <a:avLst/>
            <a:gdLst/>
            <a:ahLst/>
            <a:cxnLst/>
            <a:rect r="r" b="b" t="t" l="l"/>
            <a:pathLst>
              <a:path h="7113508" w="9241492">
                <a:moveTo>
                  <a:pt x="0" y="0"/>
                </a:moveTo>
                <a:lnTo>
                  <a:pt x="9241492" y="0"/>
                </a:lnTo>
                <a:lnTo>
                  <a:pt x="9241492" y="7113508"/>
                </a:lnTo>
                <a:lnTo>
                  <a:pt x="0" y="711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202629" y="3848100"/>
            <a:ext cx="12287486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USe Case </a:t>
            </a:r>
          </a:p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Diagram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0"/>
            <a:ext cx="5704635" cy="10287000"/>
          </a:xfrm>
          <a:custGeom>
            <a:avLst/>
            <a:gdLst/>
            <a:ahLst/>
            <a:cxnLst/>
            <a:rect r="r" b="b" t="t" l="l"/>
            <a:pathLst>
              <a:path h="10287000" w="5704635">
                <a:moveTo>
                  <a:pt x="0" y="0"/>
                </a:moveTo>
                <a:lnTo>
                  <a:pt x="5704635" y="0"/>
                </a:lnTo>
                <a:lnTo>
                  <a:pt x="570463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" t="-762" r="-227" b="-762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202629" y="3848100"/>
            <a:ext cx="12287486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Sequence</a:t>
            </a:r>
          </a:p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Diagram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2747" y="0"/>
            <a:ext cx="6172563" cy="10287000"/>
          </a:xfrm>
          <a:custGeom>
            <a:avLst/>
            <a:gdLst/>
            <a:ahLst/>
            <a:cxnLst/>
            <a:rect r="r" b="b" t="t" l="l"/>
            <a:pathLst>
              <a:path h="10287000" w="6172563">
                <a:moveTo>
                  <a:pt x="0" y="0"/>
                </a:moveTo>
                <a:lnTo>
                  <a:pt x="6172563" y="0"/>
                </a:lnTo>
                <a:lnTo>
                  <a:pt x="617256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03" r="-567" b="-903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149946" y="4665750"/>
            <a:ext cx="4138054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6799">
                <a:solidFill>
                  <a:srgbClr val="6664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Activity</a:t>
            </a:r>
          </a:p>
          <a:p>
            <a:pPr algn="ctr">
              <a:lnSpc>
                <a:spcPts val="8159"/>
              </a:lnSpc>
            </a:pPr>
            <a:r>
              <a:rPr lang="en-US" sz="6799">
                <a:solidFill>
                  <a:srgbClr val="6664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633619"/>
            <a:ext cx="14149946" cy="8644331"/>
          </a:xfrm>
          <a:custGeom>
            <a:avLst/>
            <a:gdLst/>
            <a:ahLst/>
            <a:cxnLst/>
            <a:rect r="r" b="b" t="t" l="l"/>
            <a:pathLst>
              <a:path h="8644331" w="14149946">
                <a:moveTo>
                  <a:pt x="0" y="0"/>
                </a:moveTo>
                <a:lnTo>
                  <a:pt x="14149946" y="0"/>
                </a:lnTo>
                <a:lnTo>
                  <a:pt x="14149946" y="8644331"/>
                </a:lnTo>
                <a:lnTo>
                  <a:pt x="0" y="8644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684866" y="3637050"/>
            <a:ext cx="572420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6799">
                <a:solidFill>
                  <a:srgbClr val="6664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Flow Diagram </a:t>
            </a:r>
          </a:p>
          <a:p>
            <a:pPr algn="ctr">
              <a:lnSpc>
                <a:spcPts val="8159"/>
              </a:lnSpc>
            </a:pPr>
          </a:p>
          <a:p>
            <a:pPr algn="ctr">
              <a:lnSpc>
                <a:spcPts val="8159"/>
              </a:lnSpc>
            </a:pPr>
            <a:r>
              <a:rPr lang="en-US" sz="6799">
                <a:solidFill>
                  <a:srgbClr val="6664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Level 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24000">
            <a:off x="1001175" y="1438466"/>
            <a:ext cx="11711217" cy="8007375"/>
          </a:xfrm>
          <a:custGeom>
            <a:avLst/>
            <a:gdLst/>
            <a:ahLst/>
            <a:cxnLst/>
            <a:rect r="r" b="b" t="t" l="l"/>
            <a:pathLst>
              <a:path h="8007375" w="11711217">
                <a:moveTo>
                  <a:pt x="55334" y="0"/>
                </a:moveTo>
                <a:lnTo>
                  <a:pt x="11711217" y="81375"/>
                </a:lnTo>
                <a:lnTo>
                  <a:pt x="11655882" y="8007375"/>
                </a:lnTo>
                <a:lnTo>
                  <a:pt x="0" y="7926000"/>
                </a:lnTo>
                <a:lnTo>
                  <a:pt x="55334" y="0"/>
                </a:lnTo>
                <a:close/>
              </a:path>
            </a:pathLst>
          </a:custGeom>
          <a:blipFill>
            <a:blip r:embed="rId3"/>
            <a:stretch>
              <a:fillRect l="-549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202629" y="3848100"/>
            <a:ext cx="12287486" cy="492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DAta flow Diagram </a:t>
            </a:r>
          </a:p>
          <a:p>
            <a:pPr algn="ctr">
              <a:lnSpc>
                <a:spcPts val="9599"/>
              </a:lnSpc>
            </a:pPr>
          </a:p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level 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22747" y="0"/>
            <a:ext cx="6172563" cy="10287000"/>
          </a:xfrm>
          <a:custGeom>
            <a:avLst/>
            <a:gdLst/>
            <a:ahLst/>
            <a:cxnLst/>
            <a:rect r="r" b="b" t="t" l="l"/>
            <a:pathLst>
              <a:path h="10287000" w="6172563">
                <a:moveTo>
                  <a:pt x="0" y="0"/>
                </a:moveTo>
                <a:lnTo>
                  <a:pt x="6172563" y="0"/>
                </a:lnTo>
                <a:lnTo>
                  <a:pt x="617256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4" r="0" b="-154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427488" y="3709809"/>
            <a:ext cx="12287486" cy="492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DAta flow Diagram </a:t>
            </a:r>
          </a:p>
          <a:p>
            <a:pPr algn="ctr">
              <a:lnSpc>
                <a:spcPts val="9599"/>
              </a:lnSpc>
            </a:pPr>
          </a:p>
          <a:p>
            <a:pPr algn="ctr">
              <a:lnSpc>
                <a:spcPts val="9599"/>
              </a:lnSpc>
            </a:pPr>
            <a:r>
              <a:rPr lang="en-US" sz="7999">
                <a:solidFill>
                  <a:srgbClr val="666466"/>
                </a:solidFill>
                <a:latin typeface="Horizon"/>
                <a:ea typeface="Horizon"/>
                <a:cs typeface="Horizon"/>
                <a:sym typeface="Horizon"/>
              </a:rPr>
              <a:t>level 2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96515" y="447619"/>
            <a:ext cx="8317206" cy="9770580"/>
          </a:xfrm>
          <a:custGeom>
            <a:avLst/>
            <a:gdLst/>
            <a:ahLst/>
            <a:cxnLst/>
            <a:rect r="r" b="b" t="t" l="l"/>
            <a:pathLst>
              <a:path h="9770580" w="8317206">
                <a:moveTo>
                  <a:pt x="0" y="0"/>
                </a:moveTo>
                <a:lnTo>
                  <a:pt x="8317205" y="0"/>
                </a:lnTo>
                <a:lnTo>
                  <a:pt x="8317205" y="9770579"/>
                </a:lnTo>
                <a:lnTo>
                  <a:pt x="0" y="9770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5880671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671">
                  <a:moveTo>
                    <a:pt x="127" y="0"/>
                  </a:moveTo>
                  <a:cubicBezTo>
                    <a:pt x="127" y="0"/>
                    <a:pt x="2167890" y="310642"/>
                    <a:pt x="2262378" y="1812671"/>
                  </a:cubicBezTo>
                  <a:cubicBezTo>
                    <a:pt x="2357120" y="3315081"/>
                    <a:pt x="1915160" y="3756533"/>
                    <a:pt x="2798826" y="4514088"/>
                  </a:cubicBezTo>
                  <a:cubicBezTo>
                    <a:pt x="3682365" y="5271643"/>
                    <a:pt x="6487922" y="5692648"/>
                    <a:pt x="5761990" y="8125460"/>
                  </a:cubicBezTo>
                  <a:lnTo>
                    <a:pt x="0" y="8125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25600" y="9277950"/>
            <a:ext cx="6550800" cy="1009050"/>
            <a:chOff x="0" y="0"/>
            <a:chExt cx="8734400" cy="134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63800" y="9405250"/>
            <a:ext cx="5724200" cy="881650"/>
            <a:chOff x="0" y="0"/>
            <a:chExt cx="7632267" cy="1175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76355" y="282581"/>
            <a:ext cx="7707508" cy="9826305"/>
          </a:xfrm>
          <a:custGeom>
            <a:avLst/>
            <a:gdLst/>
            <a:ahLst/>
            <a:cxnLst/>
            <a:rect r="r" b="b" t="t" l="l"/>
            <a:pathLst>
              <a:path h="9826305" w="7707508">
                <a:moveTo>
                  <a:pt x="0" y="0"/>
                </a:moveTo>
                <a:lnTo>
                  <a:pt x="7707508" y="0"/>
                </a:lnTo>
                <a:lnTo>
                  <a:pt x="7707508" y="9826305"/>
                </a:lnTo>
                <a:lnTo>
                  <a:pt x="0" y="9826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72300" y="3875175"/>
            <a:ext cx="7739291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8"/>
              </a:lnSpc>
            </a:pPr>
            <a:r>
              <a:rPr lang="en-US" sz="11998">
                <a:solidFill>
                  <a:srgbClr val="6664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 Diagram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4954" y="978950"/>
            <a:ext cx="1432500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Sce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nario Mapping: Processing a Fund Transfer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7480" y="3367961"/>
            <a:ext cx="10974956" cy="680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</a:t>
            </a: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Scenario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A customer needs to transfer 50,000 PKR to their landlord securely.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Activity 1 (Customer Action):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The user authenticates via the portal, navigates to the transfer interface, and inputs the Beneficiary Account Number and the Amount.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</a:t>
            </a: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tivity 2 (System Validation):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system triggers FR3.1 (Account Validation) and FR3.2 (Checking the 0% interest rule and verifying the sender has sufficient balance or overdraft limits).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Activity 3 (Database Execution):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system securely queries the Account Ledger Database to perform the transaction.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72436" y="2751598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4954" y="978950"/>
            <a:ext cx="14325003" cy="430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Sce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nario Mapping: ACID Execution &amp; Output</a:t>
            </a:r>
          </a:p>
          <a:p>
            <a:pPr algn="ctr">
              <a:lnSpc>
                <a:spcPts val="8400"/>
              </a:lnSpc>
            </a:pPr>
          </a:p>
          <a:p>
            <a:pPr algn="ctr">
              <a:lnSpc>
                <a:spcPts val="84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97480" y="3150650"/>
            <a:ext cx="10974956" cy="63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Activity 4 (ACID Compliance):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The Database executes an Atomic Transaction. It simultaneously debits the sender's account and credits the receiver's account.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</a:t>
            </a: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tivity 5 (Error Handling):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If the network drops during Activity 4, the Activity Diagram routes to a "Rollback" state, returning the funds to the sender to prevent data inconsistency (FR3.4).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Activity 6 (Receipt Generation):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If successful, the database logs the transaction in the Transaction Table, and the system generates a downloadable digital PDF receipt for the customer (FR3.3).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72436" y="2751598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8" y="8176026"/>
            <a:ext cx="7396350" cy="2110950"/>
            <a:chOff x="0" y="0"/>
            <a:chExt cx="9861800" cy="28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91668" y="12300"/>
            <a:ext cx="7396350" cy="2110950"/>
            <a:chOff x="0" y="0"/>
            <a:chExt cx="9861800" cy="28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9074" y="892685"/>
            <a:ext cx="13908532" cy="99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2"/>
              </a:lnSpc>
            </a:pPr>
            <a:r>
              <a:rPr lang="en-US" sz="6393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Software Testing Strategy</a:t>
            </a:r>
            <a:r>
              <a:rPr lang="en-US" sz="6393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 Overview</a:t>
            </a:r>
          </a:p>
        </p:txBody>
      </p:sp>
      <p:sp>
        <p:nvSpPr>
          <p:cNvPr name="AutoShape 7" id="7"/>
          <p:cNvSpPr/>
          <p:nvPr/>
        </p:nvSpPr>
        <p:spPr>
          <a:xfrm>
            <a:off x="3489600" y="4336790"/>
            <a:ext cx="1891800" cy="1453277"/>
          </a:xfrm>
          <a:prstGeom prst="line">
            <a:avLst/>
          </a:prstGeom>
          <a:ln cap="rnd" w="19050">
            <a:solidFill>
              <a:srgbClr val="84C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6821400" y="6676790"/>
            <a:ext cx="1891800" cy="1453827"/>
          </a:xfrm>
          <a:prstGeom prst="line">
            <a:avLst/>
          </a:prstGeom>
          <a:ln cap="rnd" w="19050">
            <a:solidFill>
              <a:srgbClr val="84C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069170" y="2302539"/>
            <a:ext cx="6169845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Focuses on inputs 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outputs. QA testers input a "Deposit Amount" into the UI and verify if the "Success Receipt" is generated without looking at the code.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93200" y="7400419"/>
            <a:ext cx="6406914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hybrid approach where a tester initiates a "Fund Transfer" on the front-end, and then manually q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ueries the SQL Database to ensure the exact balance was properly deducted.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72022" y="4988589"/>
            <a:ext cx="7644600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Developers examine the internal backend logic, specifically 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ensuring the if/else statements for the 0% Interest Rule and the ACID Compliance transaction rollbacks execute properly.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49600" y="2563200"/>
            <a:ext cx="2880000" cy="1773734"/>
            <a:chOff x="0" y="0"/>
            <a:chExt cx="3840000" cy="23649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39972" cy="2364786"/>
            </a:xfrm>
            <a:custGeom>
              <a:avLst/>
              <a:gdLst/>
              <a:ahLst/>
              <a:cxnLst/>
              <a:rect r="r" b="b" t="t" l="l"/>
              <a:pathLst>
                <a:path h="2364786" w="3839972">
                  <a:moveTo>
                    <a:pt x="0" y="1182393"/>
                  </a:moveTo>
                  <a:cubicBezTo>
                    <a:pt x="0" y="529436"/>
                    <a:pt x="330962" y="0"/>
                    <a:pt x="739140" y="0"/>
                  </a:cubicBezTo>
                  <a:lnTo>
                    <a:pt x="3100832" y="0"/>
                  </a:lnTo>
                  <a:cubicBezTo>
                    <a:pt x="3509137" y="0"/>
                    <a:pt x="3839972" y="529436"/>
                    <a:pt x="3839972" y="1182393"/>
                  </a:cubicBezTo>
                  <a:cubicBezTo>
                    <a:pt x="3839972" y="1835350"/>
                    <a:pt x="3509010" y="2364786"/>
                    <a:pt x="3100832" y="2364786"/>
                  </a:cubicBezTo>
                  <a:lnTo>
                    <a:pt x="739140" y="2364786"/>
                  </a:lnTo>
                  <a:cubicBezTo>
                    <a:pt x="330962" y="2364985"/>
                    <a:pt x="0" y="1835553"/>
                    <a:pt x="0" y="1182393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840000" cy="2384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Black Box Testing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81400" y="4903200"/>
            <a:ext cx="2880000" cy="1773734"/>
            <a:chOff x="0" y="0"/>
            <a:chExt cx="3840000" cy="2364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39972" cy="2364786"/>
            </a:xfrm>
            <a:custGeom>
              <a:avLst/>
              <a:gdLst/>
              <a:ahLst/>
              <a:cxnLst/>
              <a:rect r="r" b="b" t="t" l="l"/>
              <a:pathLst>
                <a:path h="2364786" w="3839972">
                  <a:moveTo>
                    <a:pt x="0" y="1182393"/>
                  </a:moveTo>
                  <a:cubicBezTo>
                    <a:pt x="0" y="529436"/>
                    <a:pt x="330962" y="0"/>
                    <a:pt x="739140" y="0"/>
                  </a:cubicBezTo>
                  <a:lnTo>
                    <a:pt x="3100832" y="0"/>
                  </a:lnTo>
                  <a:cubicBezTo>
                    <a:pt x="3509137" y="0"/>
                    <a:pt x="3839972" y="529436"/>
                    <a:pt x="3839972" y="1182393"/>
                  </a:cubicBezTo>
                  <a:cubicBezTo>
                    <a:pt x="3839972" y="1835350"/>
                    <a:pt x="3509010" y="2364786"/>
                    <a:pt x="3100832" y="2364786"/>
                  </a:cubicBezTo>
                  <a:lnTo>
                    <a:pt x="739140" y="2364786"/>
                  </a:lnTo>
                  <a:cubicBezTo>
                    <a:pt x="330962" y="2364985"/>
                    <a:pt x="0" y="1835553"/>
                    <a:pt x="0" y="1182393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840000" cy="2384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White Box Testing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13200" y="7243750"/>
            <a:ext cx="2880000" cy="1773734"/>
            <a:chOff x="0" y="0"/>
            <a:chExt cx="3840000" cy="2364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39972" cy="2364786"/>
            </a:xfrm>
            <a:custGeom>
              <a:avLst/>
              <a:gdLst/>
              <a:ahLst/>
              <a:cxnLst/>
              <a:rect r="r" b="b" t="t" l="l"/>
              <a:pathLst>
                <a:path h="2364786" w="3839972">
                  <a:moveTo>
                    <a:pt x="0" y="1182393"/>
                  </a:moveTo>
                  <a:cubicBezTo>
                    <a:pt x="0" y="529436"/>
                    <a:pt x="330962" y="0"/>
                    <a:pt x="739140" y="0"/>
                  </a:cubicBezTo>
                  <a:lnTo>
                    <a:pt x="3100832" y="0"/>
                  </a:lnTo>
                  <a:cubicBezTo>
                    <a:pt x="3509137" y="0"/>
                    <a:pt x="3839972" y="529436"/>
                    <a:pt x="3839972" y="1182393"/>
                  </a:cubicBezTo>
                  <a:cubicBezTo>
                    <a:pt x="3839972" y="1835350"/>
                    <a:pt x="3509010" y="2364786"/>
                    <a:pt x="3100832" y="2364786"/>
                  </a:cubicBezTo>
                  <a:lnTo>
                    <a:pt x="739140" y="2364786"/>
                  </a:lnTo>
                  <a:cubicBezTo>
                    <a:pt x="330962" y="2364985"/>
                    <a:pt x="0" y="1835553"/>
                    <a:pt x="0" y="1182393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840000" cy="2384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Grey Box Testing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4097606" y="152422"/>
            <a:ext cx="4038032" cy="4281184"/>
          </a:xfrm>
          <a:custGeom>
            <a:avLst/>
            <a:gdLst/>
            <a:ahLst/>
            <a:cxnLst/>
            <a:rect r="r" b="b" t="t" l="l"/>
            <a:pathLst>
              <a:path h="4281184" w="4038032">
                <a:moveTo>
                  <a:pt x="0" y="0"/>
                </a:moveTo>
                <a:lnTo>
                  <a:pt x="4038032" y="0"/>
                </a:lnTo>
                <a:lnTo>
                  <a:pt x="4038032" y="4281184"/>
                </a:lnTo>
                <a:lnTo>
                  <a:pt x="0" y="4281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609600" y="6138722"/>
            <a:ext cx="5678770" cy="4757890"/>
          </a:xfrm>
          <a:custGeom>
            <a:avLst/>
            <a:gdLst/>
            <a:ahLst/>
            <a:cxnLst/>
            <a:rect r="r" b="b" t="t" l="l"/>
            <a:pathLst>
              <a:path h="4757890" w="5678770">
                <a:moveTo>
                  <a:pt x="0" y="0"/>
                </a:moveTo>
                <a:lnTo>
                  <a:pt x="5678770" y="0"/>
                </a:lnTo>
                <a:lnTo>
                  <a:pt x="5678770" y="4757890"/>
                </a:lnTo>
                <a:lnTo>
                  <a:pt x="0" y="4757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891650" y="8176026"/>
            <a:ext cx="7396350" cy="2110950"/>
            <a:chOff x="0" y="0"/>
            <a:chExt cx="9861800" cy="28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300"/>
            <a:ext cx="7396350" cy="2110950"/>
            <a:chOff x="0" y="0"/>
            <a:chExt cx="9861800" cy="28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30000" y="1133325"/>
            <a:ext cx="152280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Integration 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Testing Strategies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48800" y="2819300"/>
            <a:ext cx="1728000" cy="1728000"/>
            <a:chOff x="0" y="0"/>
            <a:chExt cx="2304000" cy="230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4034" cy="2304034"/>
            </a:xfrm>
            <a:custGeom>
              <a:avLst/>
              <a:gdLst/>
              <a:ahLst/>
              <a:cxnLst/>
              <a:rect r="r" b="b" t="t" l="l"/>
              <a:pathLst>
                <a:path h="2304034" w="2304034">
                  <a:moveTo>
                    <a:pt x="0" y="1152017"/>
                  </a:moveTo>
                  <a:cubicBezTo>
                    <a:pt x="0" y="515747"/>
                    <a:pt x="515747" y="0"/>
                    <a:pt x="1152017" y="0"/>
                  </a:cubicBezTo>
                  <a:cubicBezTo>
                    <a:pt x="1788287" y="0"/>
                    <a:pt x="2304034" y="515747"/>
                    <a:pt x="2304034" y="1152017"/>
                  </a:cubicBezTo>
                  <a:cubicBezTo>
                    <a:pt x="2304034" y="1788287"/>
                    <a:pt x="1788287" y="2304034"/>
                    <a:pt x="1152017" y="2304034"/>
                  </a:cubicBezTo>
                  <a:cubicBezTo>
                    <a:pt x="515747" y="2304034"/>
                    <a:pt x="0" y="1788287"/>
                    <a:pt x="0" y="1152017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48800" y="6506425"/>
            <a:ext cx="1728000" cy="1728000"/>
            <a:chOff x="0" y="0"/>
            <a:chExt cx="2304000" cy="23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4034" cy="2304034"/>
            </a:xfrm>
            <a:custGeom>
              <a:avLst/>
              <a:gdLst/>
              <a:ahLst/>
              <a:cxnLst/>
              <a:rect r="r" b="b" t="t" l="l"/>
              <a:pathLst>
                <a:path h="2304034" w="2304034">
                  <a:moveTo>
                    <a:pt x="0" y="1152017"/>
                  </a:moveTo>
                  <a:cubicBezTo>
                    <a:pt x="0" y="515747"/>
                    <a:pt x="515747" y="0"/>
                    <a:pt x="1152017" y="0"/>
                  </a:cubicBezTo>
                  <a:cubicBezTo>
                    <a:pt x="1788287" y="0"/>
                    <a:pt x="2304034" y="515747"/>
                    <a:pt x="2304034" y="1152017"/>
                  </a:cubicBezTo>
                  <a:cubicBezTo>
                    <a:pt x="2304034" y="1788287"/>
                    <a:pt x="1788287" y="2304034"/>
                    <a:pt x="1152017" y="2304034"/>
                  </a:cubicBezTo>
                  <a:cubicBezTo>
                    <a:pt x="515747" y="2304034"/>
                    <a:pt x="0" y="1788287"/>
                    <a:pt x="0" y="1152017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11200" y="5158450"/>
            <a:ext cx="1728000" cy="1729200"/>
            <a:chOff x="0" y="0"/>
            <a:chExt cx="2304000" cy="230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4034" cy="2305558"/>
            </a:xfrm>
            <a:custGeom>
              <a:avLst/>
              <a:gdLst/>
              <a:ahLst/>
              <a:cxnLst/>
              <a:rect r="r" b="b" t="t" l="l"/>
              <a:pathLst>
                <a:path h="2305558" w="2304034">
                  <a:moveTo>
                    <a:pt x="0" y="1152779"/>
                  </a:moveTo>
                  <a:cubicBezTo>
                    <a:pt x="0" y="516128"/>
                    <a:pt x="515747" y="0"/>
                    <a:pt x="1152017" y="0"/>
                  </a:cubicBezTo>
                  <a:cubicBezTo>
                    <a:pt x="1788287" y="0"/>
                    <a:pt x="2304034" y="516128"/>
                    <a:pt x="2304034" y="1152779"/>
                  </a:cubicBezTo>
                  <a:cubicBezTo>
                    <a:pt x="2304034" y="1789430"/>
                    <a:pt x="1788287" y="2305558"/>
                    <a:pt x="1152017" y="2305558"/>
                  </a:cubicBezTo>
                  <a:cubicBezTo>
                    <a:pt x="515747" y="2305558"/>
                    <a:pt x="0" y="1789430"/>
                    <a:pt x="0" y="1152779"/>
                  </a:cubicBezTo>
                  <a:close/>
                </a:path>
              </a:pathLst>
            </a:custGeom>
            <a:solidFill>
              <a:srgbClr val="F78A2F"/>
            </a:solidFill>
          </p:spPr>
        </p:sp>
      </p:grpSp>
      <p:sp>
        <p:nvSpPr>
          <p:cNvPr name="AutoShape 13" id="13"/>
          <p:cNvSpPr/>
          <p:nvPr/>
        </p:nvSpPr>
        <p:spPr>
          <a:xfrm>
            <a:off x="7642430" y="4411475"/>
            <a:ext cx="2139140" cy="19050"/>
          </a:xfrm>
          <a:prstGeom prst="line">
            <a:avLst/>
          </a:prstGeom>
          <a:ln cap="rnd" w="19050">
            <a:solidFill>
              <a:srgbClr val="84C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8839200" y="6023050"/>
            <a:ext cx="1473600" cy="483375"/>
          </a:xfrm>
          <a:prstGeom prst="line">
            <a:avLst/>
          </a:prstGeom>
          <a:ln cap="rnd" w="19050">
            <a:solidFill>
              <a:srgbClr val="84C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1419200" y="2821275"/>
            <a:ext cx="43128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Unit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 Testing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19200" y="3604200"/>
            <a:ext cx="6868800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sm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allest pieces of code are tested in isolation, such as testing the specific function that prevents users from entering negative numbers in the transfer field (NFR4.2).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14925" y="6144700"/>
            <a:ext cx="43128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Regression </a:t>
            </a: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Testing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19200" y="7488525"/>
            <a:ext cx="6406914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Performed whenever a new feat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ure is added (e.g., adding "Bill Payments") to ensure new changes do not break previously working parts of the core banking system.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1846" y="4433025"/>
            <a:ext cx="531695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Sandwich (Hybrid) Integration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39909" y="5939850"/>
            <a:ext cx="5128891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</a:t>
            </a:r>
            <a:r>
              <a:rPr lang="en-US" b="true" sz="27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ur primary strategy. We test the UI (Top-Down) and the SQL Database (Bottom-Up) simultaneously, meeting in the middle at the API layer. This is the optimal strategy for our team to work in parallel.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819604" y="3190104"/>
            <a:ext cx="986392" cy="986392"/>
          </a:xfrm>
          <a:custGeom>
            <a:avLst/>
            <a:gdLst/>
            <a:ahLst/>
            <a:cxnLst/>
            <a:rect r="r" b="b" t="t" l="l"/>
            <a:pathLst>
              <a:path h="986392" w="986392">
                <a:moveTo>
                  <a:pt x="0" y="0"/>
                </a:moveTo>
                <a:lnTo>
                  <a:pt x="986392" y="0"/>
                </a:lnTo>
                <a:lnTo>
                  <a:pt x="986392" y="986392"/>
                </a:lnTo>
                <a:lnTo>
                  <a:pt x="0" y="98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819634" y="6989585"/>
            <a:ext cx="986362" cy="978830"/>
          </a:xfrm>
          <a:custGeom>
            <a:avLst/>
            <a:gdLst/>
            <a:ahLst/>
            <a:cxnLst/>
            <a:rect r="r" b="b" t="t" l="l"/>
            <a:pathLst>
              <a:path h="978830" w="986362">
                <a:moveTo>
                  <a:pt x="0" y="0"/>
                </a:moveTo>
                <a:lnTo>
                  <a:pt x="986362" y="0"/>
                </a:lnTo>
                <a:lnTo>
                  <a:pt x="986362" y="978830"/>
                </a:lnTo>
                <a:lnTo>
                  <a:pt x="0" y="978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482004" y="5529854"/>
            <a:ext cx="986392" cy="986392"/>
          </a:xfrm>
          <a:custGeom>
            <a:avLst/>
            <a:gdLst/>
            <a:ahLst/>
            <a:cxnLst/>
            <a:rect r="r" b="b" t="t" l="l"/>
            <a:pathLst>
              <a:path h="986392" w="986392">
                <a:moveTo>
                  <a:pt x="0" y="0"/>
                </a:moveTo>
                <a:lnTo>
                  <a:pt x="986392" y="0"/>
                </a:lnTo>
                <a:lnTo>
                  <a:pt x="986392" y="986392"/>
                </a:lnTo>
                <a:lnTo>
                  <a:pt x="0" y="9863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970125" y="-636585"/>
            <a:ext cx="2798932" cy="3838860"/>
          </a:xfrm>
          <a:custGeom>
            <a:avLst/>
            <a:gdLst/>
            <a:ahLst/>
            <a:cxnLst/>
            <a:rect r="r" b="b" t="t" l="l"/>
            <a:pathLst>
              <a:path h="3838860" w="2798932">
                <a:moveTo>
                  <a:pt x="0" y="0"/>
                </a:moveTo>
                <a:lnTo>
                  <a:pt x="2798932" y="0"/>
                </a:lnTo>
                <a:lnTo>
                  <a:pt x="2798932" y="3838860"/>
                </a:lnTo>
                <a:lnTo>
                  <a:pt x="0" y="38388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700160" y="6766960"/>
            <a:ext cx="3457720" cy="4508540"/>
          </a:xfrm>
          <a:custGeom>
            <a:avLst/>
            <a:gdLst/>
            <a:ahLst/>
            <a:cxnLst/>
            <a:rect r="r" b="b" t="t" l="l"/>
            <a:pathLst>
              <a:path h="4508540" w="3457720">
                <a:moveTo>
                  <a:pt x="0" y="0"/>
                </a:moveTo>
                <a:lnTo>
                  <a:pt x="3457720" y="0"/>
                </a:lnTo>
                <a:lnTo>
                  <a:pt x="3457720" y="4508540"/>
                </a:lnTo>
                <a:lnTo>
                  <a:pt x="0" y="45085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7480" y="-206398"/>
            <a:ext cx="16122780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</a:p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Sample Execution: Test Case TC-02</a:t>
            </a:r>
          </a:p>
          <a:p>
            <a:pPr algn="ctr">
              <a:lnSpc>
                <a:spcPts val="84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97480" y="3367961"/>
            <a:ext cx="10974956" cy="63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</a:t>
            </a: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ture Tested: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NFR4.2 Input Validation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Pre-Condition: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User is logged securely into the Transfer Page.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 Steps: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Enter Beneficiary Account.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2. Enter Amount: "-100" (A negative number).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3. Click Transfer.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Expected Result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The system blocks the transfer at the UI level and displays a financial error message: "Invalid negative amount."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This ensures mathematical logic errors cannot be passed to the database.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324832" y="4183960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891650" y="8176026"/>
            <a:ext cx="7396350" cy="2110950"/>
            <a:chOff x="0" y="0"/>
            <a:chExt cx="9861800" cy="28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300"/>
            <a:ext cx="7396350" cy="2110950"/>
            <a:chOff x="0" y="0"/>
            <a:chExt cx="9861800" cy="28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85824" y="1000125"/>
            <a:ext cx="13059825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Project Classification &amp; Basic Estimation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94456" y="3078803"/>
            <a:ext cx="10983215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</a:t>
            </a: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ect Classification: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Based on course parameters, we classified this system as an Organic Mode project (Small team, familiar web development environment, strict requirements).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Estimated Size: 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estimate the project will require approximately 3,000 Lines of Code (3 KLOC).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Basic COCOMO Formula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= a_b x (KLOC)^b_b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Using the Organic coefficients 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(a_b = 2.4, b_b = 1.05), the Basic Effort calculation results in approximately </a:t>
            </a: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7.61 Person-Months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pPr algn="l">
              <a:lnSpc>
                <a:spcPts val="39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003230" y="6336774"/>
            <a:ext cx="3894390" cy="4559838"/>
          </a:xfrm>
          <a:custGeom>
            <a:avLst/>
            <a:gdLst/>
            <a:ahLst/>
            <a:cxnLst/>
            <a:rect r="r" b="b" t="t" l="l"/>
            <a:pathLst>
              <a:path h="4559838" w="3894390">
                <a:moveTo>
                  <a:pt x="0" y="0"/>
                </a:moveTo>
                <a:lnTo>
                  <a:pt x="3894390" y="0"/>
                </a:lnTo>
                <a:lnTo>
                  <a:pt x="3894390" y="4559838"/>
                </a:lnTo>
                <a:lnTo>
                  <a:pt x="0" y="4559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380" y="152422"/>
            <a:ext cx="3761236" cy="4397146"/>
          </a:xfrm>
          <a:custGeom>
            <a:avLst/>
            <a:gdLst/>
            <a:ahLst/>
            <a:cxnLst/>
            <a:rect r="r" b="b" t="t" l="l"/>
            <a:pathLst>
              <a:path h="4397146" w="3761236">
                <a:moveTo>
                  <a:pt x="0" y="0"/>
                </a:moveTo>
                <a:lnTo>
                  <a:pt x="3761236" y="0"/>
                </a:lnTo>
                <a:lnTo>
                  <a:pt x="3761236" y="4397146"/>
                </a:lnTo>
                <a:lnTo>
                  <a:pt x="0" y="43971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891650" y="8176026"/>
            <a:ext cx="7396350" cy="2110950"/>
            <a:chOff x="0" y="0"/>
            <a:chExt cx="9861800" cy="28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300"/>
            <a:ext cx="7396350" cy="2110950"/>
            <a:chOff x="0" y="0"/>
            <a:chExt cx="9861800" cy="28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13616" y="1039200"/>
            <a:ext cx="1305982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Inte</a:t>
            </a:r>
            <a:r>
              <a:rPr lang="en-US" sz="6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rmediate COCOMO Refinement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4944" y="1866876"/>
            <a:ext cx="10983215" cy="842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Basic model is insufficient for banking software, so we applied the Intermediate COCOMO model to account for specific Cost Drivers.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</a:t>
            </a: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ired Software Reliability (RELY):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Rated High (1.15) because financial loss prevention is critical.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Complexity (CPLX):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Rated High (1.15) due to ACID compliance and AES-256 encryption.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Modern Programming Practices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(MODP): Rated High (0.91) because our modern stack (React/FastAPI) increases efficiency.</a:t>
            </a:r>
          </a:p>
          <a:p>
            <a:pPr algn="l" marL="1125278" indent="-562639" lvl="1">
              <a:lnSpc>
                <a:spcPts val="3959"/>
              </a:lnSpc>
              <a:buFont typeface="Arial"/>
              <a:buChar char="•"/>
            </a:pPr>
            <a:r>
              <a:rPr lang="en-US" b="true" sz="32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Effort Adjustment Factor (EAF):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algn="l">
              <a:lnSpc>
                <a:spcPts val="3959"/>
              </a:lnSpc>
            </a:pP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            </a:t>
            </a:r>
            <a:r>
              <a:rPr lang="en-US" b="true" sz="32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1.15 x 1.15 x 0.91 = 1.20.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003230" y="6336774"/>
            <a:ext cx="3894390" cy="4559838"/>
          </a:xfrm>
          <a:custGeom>
            <a:avLst/>
            <a:gdLst/>
            <a:ahLst/>
            <a:cxnLst/>
            <a:rect r="r" b="b" t="t" l="l"/>
            <a:pathLst>
              <a:path h="4559838" w="3894390">
                <a:moveTo>
                  <a:pt x="0" y="0"/>
                </a:moveTo>
                <a:lnTo>
                  <a:pt x="3894390" y="0"/>
                </a:lnTo>
                <a:lnTo>
                  <a:pt x="3894390" y="4559838"/>
                </a:lnTo>
                <a:lnTo>
                  <a:pt x="0" y="4559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380" y="152422"/>
            <a:ext cx="3761236" cy="4397146"/>
          </a:xfrm>
          <a:custGeom>
            <a:avLst/>
            <a:gdLst/>
            <a:ahLst/>
            <a:cxnLst/>
            <a:rect r="r" b="b" t="t" l="l"/>
            <a:pathLst>
              <a:path h="4397146" w="3761236">
                <a:moveTo>
                  <a:pt x="0" y="0"/>
                </a:moveTo>
                <a:lnTo>
                  <a:pt x="3761236" y="0"/>
                </a:lnTo>
                <a:lnTo>
                  <a:pt x="3761236" y="4397146"/>
                </a:lnTo>
                <a:lnTo>
                  <a:pt x="0" y="43971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891650" y="8176026"/>
            <a:ext cx="7396350" cy="2110950"/>
            <a:chOff x="0" y="0"/>
            <a:chExt cx="9861800" cy="28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300"/>
            <a:ext cx="7396350" cy="2110950"/>
            <a:chOff x="0" y="0"/>
            <a:chExt cx="9861800" cy="28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0" y="0"/>
                  </a:moveTo>
                  <a:lnTo>
                    <a:pt x="0" y="1821688"/>
                  </a:lnTo>
                  <a:cubicBezTo>
                    <a:pt x="0" y="1821688"/>
                    <a:pt x="419608" y="2814574"/>
                    <a:pt x="1623695" y="2814574"/>
                  </a:cubicBezTo>
                  <a:cubicBezTo>
                    <a:pt x="1909572" y="2814574"/>
                    <a:pt x="2239772" y="2758567"/>
                    <a:pt x="2619248" y="2619883"/>
                  </a:cubicBezTo>
                  <a:cubicBezTo>
                    <a:pt x="4354322" y="1986026"/>
                    <a:pt x="4881753" y="1000633"/>
                    <a:pt x="6260465" y="1000633"/>
                  </a:cubicBezTo>
                  <a:cubicBezTo>
                    <a:pt x="6452362" y="1000633"/>
                    <a:pt x="6660769" y="1019683"/>
                    <a:pt x="6891274" y="1061466"/>
                  </a:cubicBezTo>
                  <a:cubicBezTo>
                    <a:pt x="7096125" y="1098550"/>
                    <a:pt x="7291578" y="1115187"/>
                    <a:pt x="7477125" y="1115187"/>
                  </a:cubicBezTo>
                  <a:cubicBezTo>
                    <a:pt x="8999982" y="1115187"/>
                    <a:pt x="9861677" y="0"/>
                    <a:pt x="9861677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13616" y="1039200"/>
            <a:ext cx="1305982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  <a:r>
              <a:rPr lang="en-US" sz="6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inal Cost &amp; Effort Calculations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15433" y="3193524"/>
            <a:ext cx="10983215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93476" indent="-596738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34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evised Effort Formula:</a:t>
            </a: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algn="l" marL="1193476" indent="-596738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= a_i x (KLOC)^b_i x EAF</a:t>
            </a:r>
          </a:p>
          <a:p>
            <a:pPr algn="l" marL="1193476" indent="-596738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Calculation:</a:t>
            </a:r>
          </a:p>
          <a:p>
            <a:pPr algn="l" marL="1193476" indent="-596738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 = 3.2 x (3)^1.05 x 1.20</a:t>
            </a:r>
          </a:p>
          <a:p>
            <a:pPr algn="l" marL="1193476" indent="-596738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Estimated Effort:</a:t>
            </a:r>
          </a:p>
          <a:p>
            <a:pPr algn="l" marL="1193476" indent="-596738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system requires 12.17 Person-Months of intensive development effort to complete securely.</a:t>
            </a:r>
          </a:p>
          <a:p>
            <a:pPr algn="l" marL="1193476" indent="-596738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</a:t>
            </a:r>
            <a:r>
              <a:rPr lang="en-US" b="true" sz="34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opment Time (D):</a:t>
            </a: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algn="l">
              <a:lnSpc>
                <a:spcPts val="4199"/>
              </a:lnSpc>
            </a:pP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</a:t>
            </a: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</a:t>
            </a: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2</a:t>
            </a: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.5 x (12.17)^0.38 = ~6.4 Months </a:t>
            </a:r>
          </a:p>
          <a:p>
            <a:pPr algn="l">
              <a:lnSpc>
                <a:spcPts val="4199"/>
              </a:lnSpc>
            </a:pP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 </a:t>
            </a:r>
            <a:r>
              <a:rPr lang="en-US" b="true" sz="3499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(if developed sequentially by one person).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003230" y="6336774"/>
            <a:ext cx="3894390" cy="4559838"/>
          </a:xfrm>
          <a:custGeom>
            <a:avLst/>
            <a:gdLst/>
            <a:ahLst/>
            <a:cxnLst/>
            <a:rect r="r" b="b" t="t" l="l"/>
            <a:pathLst>
              <a:path h="4559838" w="3894390">
                <a:moveTo>
                  <a:pt x="0" y="0"/>
                </a:moveTo>
                <a:lnTo>
                  <a:pt x="3894390" y="0"/>
                </a:lnTo>
                <a:lnTo>
                  <a:pt x="3894390" y="4559838"/>
                </a:lnTo>
                <a:lnTo>
                  <a:pt x="0" y="4559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380" y="152422"/>
            <a:ext cx="3761236" cy="4397146"/>
          </a:xfrm>
          <a:custGeom>
            <a:avLst/>
            <a:gdLst/>
            <a:ahLst/>
            <a:cxnLst/>
            <a:rect r="r" b="b" t="t" l="l"/>
            <a:pathLst>
              <a:path h="4397146" w="3761236">
                <a:moveTo>
                  <a:pt x="0" y="0"/>
                </a:moveTo>
                <a:lnTo>
                  <a:pt x="3761236" y="0"/>
                </a:lnTo>
                <a:lnTo>
                  <a:pt x="3761236" y="4397146"/>
                </a:lnTo>
                <a:lnTo>
                  <a:pt x="0" y="43971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81725" y="781392"/>
            <a:ext cx="1612278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Proj</a:t>
            </a:r>
            <a:r>
              <a:rPr lang="en-US" sz="70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ect Feasibility &amp; Team Allocation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7480" y="3367961"/>
            <a:ext cx="10974956" cy="63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Intermediate Model provides a highly realistic estimate by accounting for the extreme reliability and complexity required for a Current Account Banking System.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Allocation: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Our dedicated development group consists of 5 members.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Compression: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utilizing parallel development (Sandwich Integration) and dividing the total effort (12.17 PM) by our team size (5 people), we can compress the schedule significantly.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Theoretical Completion Time: 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Approximately 2.4 to 2.5 months.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324832" y="4183960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000" y="4183960"/>
            <a:ext cx="4866006" cy="6094230"/>
            <a:chOff x="0" y="0"/>
            <a:chExt cx="6488008" cy="812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07251" y="127"/>
              <a:ext cx="5880798" cy="8125460"/>
            </a:xfrm>
            <a:custGeom>
              <a:avLst/>
              <a:gdLst/>
              <a:ahLst/>
              <a:cxnLst/>
              <a:rect r="r" b="b" t="t" l="l"/>
              <a:pathLst>
                <a:path h="8125460" w="5880798">
                  <a:moveTo>
                    <a:pt x="5880544" y="0"/>
                  </a:moveTo>
                  <a:cubicBezTo>
                    <a:pt x="5880544" y="0"/>
                    <a:pt x="3712781" y="310642"/>
                    <a:pt x="3618293" y="1812671"/>
                  </a:cubicBezTo>
                  <a:cubicBezTo>
                    <a:pt x="3523551" y="3315081"/>
                    <a:pt x="3965511" y="3756533"/>
                    <a:pt x="3081845" y="4514088"/>
                  </a:cubicBezTo>
                  <a:cubicBezTo>
                    <a:pt x="2198306" y="5271643"/>
                    <a:pt x="-607251" y="5692648"/>
                    <a:pt x="118681" y="8125460"/>
                  </a:cubicBezTo>
                  <a:lnTo>
                    <a:pt x="5880798" y="8125460"/>
                  </a:lnTo>
                  <a:lnTo>
                    <a:pt x="588079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2700100" y="5406900"/>
            <a:ext cx="2199900" cy="7600150"/>
            <a:chOff x="0" y="0"/>
            <a:chExt cx="2933200" cy="10133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326" y="0"/>
              <a:ext cx="1854339" cy="10133457"/>
            </a:xfrm>
            <a:custGeom>
              <a:avLst/>
              <a:gdLst/>
              <a:ahLst/>
              <a:cxnLst/>
              <a:rect r="r" b="b" t="t" l="l"/>
              <a:pathLst>
                <a:path h="10133457" w="1854339">
                  <a:moveTo>
                    <a:pt x="1854339" y="0"/>
                  </a:moveTo>
                  <a:cubicBezTo>
                    <a:pt x="1854339" y="0"/>
                    <a:pt x="37731" y="1156462"/>
                    <a:pt x="461911" y="2775204"/>
                  </a:cubicBezTo>
                  <a:cubicBezTo>
                    <a:pt x="886345" y="4393946"/>
                    <a:pt x="1879739" y="4691888"/>
                    <a:pt x="413270" y="6720459"/>
                  </a:cubicBezTo>
                  <a:cubicBezTo>
                    <a:pt x="-1053199" y="8749030"/>
                    <a:pt x="1854339" y="10133457"/>
                    <a:pt x="1854339" y="10133457"/>
                  </a:cubicBezTo>
                  <a:lnTo>
                    <a:pt x="1854339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564850" y="6103400"/>
            <a:ext cx="1638650" cy="6768400"/>
            <a:chOff x="0" y="0"/>
            <a:chExt cx="2184867" cy="902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2519" y="0"/>
              <a:ext cx="1402389" cy="9024493"/>
            </a:xfrm>
            <a:custGeom>
              <a:avLst/>
              <a:gdLst/>
              <a:ahLst/>
              <a:cxnLst/>
              <a:rect r="r" b="b" t="t" l="l"/>
              <a:pathLst>
                <a:path h="9024493" w="1402389">
                  <a:moveTo>
                    <a:pt x="1402389" y="0"/>
                  </a:moveTo>
                  <a:cubicBezTo>
                    <a:pt x="1402262" y="127"/>
                    <a:pt x="27868" y="983234"/>
                    <a:pt x="343082" y="2433447"/>
                  </a:cubicBezTo>
                  <a:cubicBezTo>
                    <a:pt x="658296" y="3883660"/>
                    <a:pt x="1396420" y="4150360"/>
                    <a:pt x="307014" y="5967349"/>
                  </a:cubicBezTo>
                  <a:cubicBezTo>
                    <a:pt x="-782392" y="7784338"/>
                    <a:pt x="1377497" y="9024493"/>
                    <a:pt x="1377497" y="9024493"/>
                  </a:cubicBezTo>
                  <a:lnTo>
                    <a:pt x="1402389" y="0"/>
                  </a:ln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-2770900" y="3282476"/>
            <a:ext cx="6550800" cy="1009050"/>
            <a:chOff x="0" y="0"/>
            <a:chExt cx="8734400" cy="134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"/>
              <a:ext cx="8734425" cy="1345311"/>
            </a:xfrm>
            <a:custGeom>
              <a:avLst/>
              <a:gdLst/>
              <a:ahLst/>
              <a:cxnLst/>
              <a:rect r="r" b="b" t="t" l="l"/>
              <a:pathLst>
                <a:path h="1345311" w="8734425">
                  <a:moveTo>
                    <a:pt x="1722501" y="0"/>
                  </a:moveTo>
                  <a:cubicBezTo>
                    <a:pt x="456184" y="0"/>
                    <a:pt x="0" y="1345057"/>
                    <a:pt x="0" y="1345057"/>
                  </a:cubicBezTo>
                  <a:lnTo>
                    <a:pt x="0" y="1345311"/>
                  </a:lnTo>
                  <a:lnTo>
                    <a:pt x="8734425" y="1345311"/>
                  </a:lnTo>
                  <a:cubicBezTo>
                    <a:pt x="8734425" y="1345311"/>
                    <a:pt x="8147431" y="547624"/>
                    <a:pt x="7254367" y="547624"/>
                  </a:cubicBezTo>
                  <a:cubicBezTo>
                    <a:pt x="7063359" y="547624"/>
                    <a:pt x="6858381" y="584200"/>
                    <a:pt x="6642100" y="672719"/>
                  </a:cubicBezTo>
                  <a:cubicBezTo>
                    <a:pt x="6251956" y="832485"/>
                    <a:pt x="5832856" y="998728"/>
                    <a:pt x="5252593" y="998728"/>
                  </a:cubicBezTo>
                  <a:cubicBezTo>
                    <a:pt x="4660011" y="998728"/>
                    <a:pt x="3899408" y="825246"/>
                    <a:pt x="2829814" y="294259"/>
                  </a:cubicBezTo>
                  <a:cubicBezTo>
                    <a:pt x="2406396" y="83947"/>
                    <a:pt x="2039112" y="0"/>
                    <a:pt x="1722501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-2421200" y="2421276"/>
            <a:ext cx="5724200" cy="881650"/>
            <a:chOff x="0" y="0"/>
            <a:chExt cx="7632267" cy="1175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1505077" y="0"/>
                  </a:moveTo>
                  <a:cubicBezTo>
                    <a:pt x="398526" y="0"/>
                    <a:pt x="0" y="1175385"/>
                    <a:pt x="0" y="1175385"/>
                  </a:cubicBezTo>
                  <a:lnTo>
                    <a:pt x="7632192" y="1175385"/>
                  </a:lnTo>
                  <a:cubicBezTo>
                    <a:pt x="7632192" y="1175385"/>
                    <a:pt x="7119366" y="478409"/>
                    <a:pt x="6338951" y="478409"/>
                  </a:cubicBezTo>
                  <a:cubicBezTo>
                    <a:pt x="6172073" y="478409"/>
                    <a:pt x="5992876" y="510286"/>
                    <a:pt x="5803900" y="587629"/>
                  </a:cubicBezTo>
                  <a:cubicBezTo>
                    <a:pt x="5462905" y="727202"/>
                    <a:pt x="5096637" y="872617"/>
                    <a:pt x="4589653" y="872617"/>
                  </a:cubicBezTo>
                  <a:cubicBezTo>
                    <a:pt x="4071874" y="872617"/>
                    <a:pt x="3407282" y="720979"/>
                    <a:pt x="2472563" y="257048"/>
                  </a:cubicBezTo>
                  <a:cubicBezTo>
                    <a:pt x="2102612" y="73406"/>
                    <a:pt x="1781683" y="0"/>
                    <a:pt x="1505077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32442" y="1223801"/>
            <a:ext cx="8616574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55"/>
              </a:lnSpc>
            </a:pPr>
            <a:r>
              <a:rPr lang="en-US" sz="10546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Final Verdict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1725" y="4064976"/>
            <a:ext cx="10620000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</a:t>
            </a: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calculated timeline of ~2.5 months fits perfectly within our semester timeline.</a:t>
            </a:r>
          </a:p>
          <a:p>
            <a:pPr algn="ctr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6664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Therefore, the Current Account Banking System is officially deemed both technically and practically feasible for our group to successfully deliver.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894400" y="620004"/>
            <a:ext cx="5070062" cy="9046992"/>
          </a:xfrm>
          <a:custGeom>
            <a:avLst/>
            <a:gdLst/>
            <a:ahLst/>
            <a:cxnLst/>
            <a:rect r="r" b="b" t="t" l="l"/>
            <a:pathLst>
              <a:path h="9046992" w="5070062">
                <a:moveTo>
                  <a:pt x="0" y="0"/>
                </a:moveTo>
                <a:lnTo>
                  <a:pt x="5070062" y="0"/>
                </a:lnTo>
                <a:lnTo>
                  <a:pt x="5070062" y="9046992"/>
                </a:lnTo>
                <a:lnTo>
                  <a:pt x="0" y="9046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8438" y="3666002"/>
            <a:ext cx="5279484" cy="6612310"/>
            <a:chOff x="0" y="0"/>
            <a:chExt cx="7039312" cy="88164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8788" y="127"/>
              <a:ext cx="6380568" cy="8816340"/>
            </a:xfrm>
            <a:custGeom>
              <a:avLst/>
              <a:gdLst/>
              <a:ahLst/>
              <a:cxnLst/>
              <a:rect r="r" b="b" t="t" l="l"/>
              <a:pathLst>
                <a:path h="8816340" w="6380568">
                  <a:moveTo>
                    <a:pt x="6380314" y="0"/>
                  </a:moveTo>
                  <a:cubicBezTo>
                    <a:pt x="6380314" y="0"/>
                    <a:pt x="4028274" y="337058"/>
                    <a:pt x="3925785" y="1966849"/>
                  </a:cubicBezTo>
                  <a:cubicBezTo>
                    <a:pt x="3822915" y="3596894"/>
                    <a:pt x="4302467" y="4075938"/>
                    <a:pt x="3343744" y="4897882"/>
                  </a:cubicBezTo>
                  <a:cubicBezTo>
                    <a:pt x="2385148" y="5719826"/>
                    <a:pt x="-658788" y="6176645"/>
                    <a:pt x="128739" y="8816340"/>
                  </a:cubicBezTo>
                  <a:lnTo>
                    <a:pt x="6380568" y="8816340"/>
                  </a:lnTo>
                  <a:lnTo>
                    <a:pt x="6380568" y="0"/>
                  </a:ln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2300" y="12300"/>
            <a:ext cx="8815700" cy="2083850"/>
            <a:chOff x="0" y="0"/>
            <a:chExt cx="11754267" cy="2778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4231" cy="2778379"/>
            </a:xfrm>
            <a:custGeom>
              <a:avLst/>
              <a:gdLst/>
              <a:ahLst/>
              <a:cxnLst/>
              <a:rect r="r" b="b" t="t" l="l"/>
              <a:pathLst>
                <a:path h="2778379" w="11754231">
                  <a:moveTo>
                    <a:pt x="11754231" y="0"/>
                  </a:moveTo>
                  <a:lnTo>
                    <a:pt x="11754231" y="1798193"/>
                  </a:lnTo>
                  <a:cubicBezTo>
                    <a:pt x="11754231" y="1798193"/>
                    <a:pt x="11253978" y="2778379"/>
                    <a:pt x="9818878" y="2778379"/>
                  </a:cubicBezTo>
                  <a:cubicBezTo>
                    <a:pt x="9478138" y="2778379"/>
                    <a:pt x="9084438" y="2723134"/>
                    <a:pt x="8632317" y="2586228"/>
                  </a:cubicBezTo>
                  <a:cubicBezTo>
                    <a:pt x="6564376" y="1960499"/>
                    <a:pt x="5935599" y="987679"/>
                    <a:pt x="4292473" y="987679"/>
                  </a:cubicBezTo>
                  <a:cubicBezTo>
                    <a:pt x="4063619" y="987679"/>
                    <a:pt x="3815334" y="1006602"/>
                    <a:pt x="3540633" y="1047750"/>
                  </a:cubicBezTo>
                  <a:cubicBezTo>
                    <a:pt x="3296412" y="1084453"/>
                    <a:pt x="3063494" y="1100836"/>
                    <a:pt x="2842260" y="1100836"/>
                  </a:cubicBezTo>
                  <a:cubicBezTo>
                    <a:pt x="1027049" y="110083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1650" y="12300"/>
            <a:ext cx="7396350" cy="2110950"/>
            <a:chOff x="0" y="0"/>
            <a:chExt cx="9861800" cy="28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61677" cy="2814574"/>
            </a:xfrm>
            <a:custGeom>
              <a:avLst/>
              <a:gdLst/>
              <a:ahLst/>
              <a:cxnLst/>
              <a:rect r="r" b="b" t="t" l="l"/>
              <a:pathLst>
                <a:path h="2814574" w="9861677">
                  <a:moveTo>
                    <a:pt x="9861677" y="0"/>
                  </a:moveTo>
                  <a:lnTo>
                    <a:pt x="9861677" y="1821688"/>
                  </a:lnTo>
                  <a:cubicBezTo>
                    <a:pt x="9861677" y="1821688"/>
                    <a:pt x="9442069" y="2814574"/>
                    <a:pt x="8237982" y="2814574"/>
                  </a:cubicBezTo>
                  <a:cubicBezTo>
                    <a:pt x="7952105" y="2814574"/>
                    <a:pt x="7621905" y="2758567"/>
                    <a:pt x="7242429" y="2619883"/>
                  </a:cubicBezTo>
                  <a:cubicBezTo>
                    <a:pt x="5507355" y="1986026"/>
                    <a:pt x="4979924" y="1000633"/>
                    <a:pt x="3601212" y="1000633"/>
                  </a:cubicBezTo>
                  <a:cubicBezTo>
                    <a:pt x="3409315" y="1000633"/>
                    <a:pt x="3200908" y="1019683"/>
                    <a:pt x="2970403" y="1061466"/>
                  </a:cubicBezTo>
                  <a:cubicBezTo>
                    <a:pt x="2765552" y="1098550"/>
                    <a:pt x="2570099" y="1115187"/>
                    <a:pt x="2384552" y="1115187"/>
                  </a:cubicBezTo>
                  <a:cubicBezTo>
                    <a:pt x="861695" y="111518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-2770900" y="5994050"/>
            <a:ext cx="6550800" cy="1009050"/>
            <a:chOff x="0" y="0"/>
            <a:chExt cx="8734400" cy="134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27"/>
              <a:ext cx="8734425" cy="1345438"/>
            </a:xfrm>
            <a:custGeom>
              <a:avLst/>
              <a:gdLst/>
              <a:ahLst/>
              <a:cxnLst/>
              <a:rect r="r" b="b" t="t" l="l"/>
              <a:pathLst>
                <a:path h="1345438" w="8734425">
                  <a:moveTo>
                    <a:pt x="7011924" y="0"/>
                  </a:moveTo>
                  <a:cubicBezTo>
                    <a:pt x="8278368" y="0"/>
                    <a:pt x="8734425" y="1345184"/>
                    <a:pt x="8734425" y="1345184"/>
                  </a:cubicBezTo>
                  <a:lnTo>
                    <a:pt x="8734425" y="1345438"/>
                  </a:lnTo>
                  <a:lnTo>
                    <a:pt x="0" y="1345438"/>
                  </a:lnTo>
                  <a:cubicBezTo>
                    <a:pt x="0" y="1345438"/>
                    <a:pt x="586994" y="547751"/>
                    <a:pt x="1480058" y="547751"/>
                  </a:cubicBezTo>
                  <a:cubicBezTo>
                    <a:pt x="1671066" y="547751"/>
                    <a:pt x="1876044" y="584327"/>
                    <a:pt x="2092325" y="672846"/>
                  </a:cubicBezTo>
                  <a:cubicBezTo>
                    <a:pt x="2482469" y="832612"/>
                    <a:pt x="2901569" y="998855"/>
                    <a:pt x="3481832" y="998855"/>
                  </a:cubicBezTo>
                  <a:cubicBezTo>
                    <a:pt x="4074414" y="998855"/>
                    <a:pt x="4835017" y="825373"/>
                    <a:pt x="5904611" y="294386"/>
                  </a:cubicBezTo>
                  <a:cubicBezTo>
                    <a:pt x="6328029" y="83947"/>
                    <a:pt x="6695313" y="0"/>
                    <a:pt x="7011924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-2421200" y="6982650"/>
            <a:ext cx="5724200" cy="881650"/>
            <a:chOff x="0" y="0"/>
            <a:chExt cx="7632267" cy="1175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"/>
              <a:ext cx="7632192" cy="1175385"/>
            </a:xfrm>
            <a:custGeom>
              <a:avLst/>
              <a:gdLst/>
              <a:ahLst/>
              <a:cxnLst/>
              <a:rect r="r" b="b" t="t" l="l"/>
              <a:pathLst>
                <a:path h="1175385" w="7632192">
                  <a:moveTo>
                    <a:pt x="6127115" y="0"/>
                  </a:moveTo>
                  <a:cubicBezTo>
                    <a:pt x="7233666" y="0"/>
                    <a:pt x="7632192" y="1175385"/>
                    <a:pt x="7632192" y="1175385"/>
                  </a:cubicBezTo>
                  <a:lnTo>
                    <a:pt x="0" y="1175385"/>
                  </a:lnTo>
                  <a:cubicBezTo>
                    <a:pt x="0" y="1175385"/>
                    <a:pt x="512826" y="478409"/>
                    <a:pt x="1293241" y="478409"/>
                  </a:cubicBezTo>
                  <a:cubicBezTo>
                    <a:pt x="1460119" y="478409"/>
                    <a:pt x="1639316" y="510286"/>
                    <a:pt x="1828292" y="587629"/>
                  </a:cubicBezTo>
                  <a:cubicBezTo>
                    <a:pt x="2169287" y="727202"/>
                    <a:pt x="2535555" y="872617"/>
                    <a:pt x="3042539" y="872617"/>
                  </a:cubicBezTo>
                  <a:cubicBezTo>
                    <a:pt x="3560318" y="872617"/>
                    <a:pt x="4224909" y="720979"/>
                    <a:pt x="5159629" y="257048"/>
                  </a:cubicBezTo>
                  <a:cubicBezTo>
                    <a:pt x="5529580" y="73406"/>
                    <a:pt x="5850509" y="0"/>
                    <a:pt x="6127115" y="0"/>
                  </a:cubicBezTo>
                  <a:close/>
                </a:path>
              </a:pathLst>
            </a:custGeom>
            <a:solidFill>
              <a:srgbClr val="84C4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11650" y="3083022"/>
            <a:ext cx="9180000" cy="245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005D77"/>
                </a:solidFill>
                <a:latin typeface="Arimo"/>
                <a:ea typeface="Arimo"/>
                <a:cs typeface="Arimo"/>
                <a:sym typeface="Arimo"/>
              </a:rPr>
              <a:t>THANKS!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5604" y="6143482"/>
            <a:ext cx="9180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6664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 you have any questions?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495536" y="2751598"/>
            <a:ext cx="6963168" cy="5564398"/>
          </a:xfrm>
          <a:custGeom>
            <a:avLst/>
            <a:gdLst/>
            <a:ahLst/>
            <a:cxnLst/>
            <a:rect r="r" b="b" t="t" l="l"/>
            <a:pathLst>
              <a:path h="5564398" w="6963168">
                <a:moveTo>
                  <a:pt x="0" y="0"/>
                </a:moveTo>
                <a:lnTo>
                  <a:pt x="6963168" y="0"/>
                </a:lnTo>
                <a:lnTo>
                  <a:pt x="6963168" y="5564398"/>
                </a:lnTo>
                <a:lnTo>
                  <a:pt x="0" y="5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DAHCDVCgT5w</dc:identifier>
  <dcterms:modified xsi:type="dcterms:W3CDTF">2011-08-01T06:04:30Z</dcterms:modified>
  <cp:revision>1</cp:revision>
  <dc:title>Copy of software-development-school-center.pptx</dc:title>
</cp:coreProperties>
</file>